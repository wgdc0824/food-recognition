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3"/>
    <p:sldId id="521" r:id="rId4"/>
    <p:sldId id="518" r:id="rId5"/>
    <p:sldId id="519" r:id="rId6"/>
    <p:sldId id="520" r:id="rId7"/>
    <p:sldId id="517" r:id="rId8"/>
    <p:sldId id="515" r:id="rId9"/>
    <p:sldId id="516" r:id="rId10"/>
    <p:sldId id="512" r:id="rId11"/>
    <p:sldId id="522" r:id="rId12"/>
    <p:sldId id="530" r:id="rId13"/>
    <p:sldId id="523" r:id="rId14"/>
    <p:sldId id="524" r:id="rId15"/>
    <p:sldId id="525" r:id="rId16"/>
    <p:sldId id="529" r:id="rId17"/>
    <p:sldId id="526" r:id="rId18"/>
    <p:sldId id="527" r:id="rId19"/>
    <p:sldId id="528" r:id="rId20"/>
    <p:sldId id="531" r:id="rId21"/>
    <p:sldId id="533" r:id="rId22"/>
    <p:sldId id="532" r:id="rId23"/>
    <p:sldId id="489" r:id="rId2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291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ngYi Li" initials="PL" lastIdx="5" clrIdx="0"/>
  <p:cmAuthor id="2" name="范 鹏博" initials="范"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2B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96" autoAdjust="0"/>
    <p:restoredTop sz="94660"/>
  </p:normalViewPr>
  <p:slideViewPr>
    <p:cSldViewPr showGuides="1">
      <p:cViewPr>
        <p:scale>
          <a:sx n="100" d="100"/>
          <a:sy n="100" d="100"/>
        </p:scale>
        <p:origin x="1348" y="284"/>
      </p:cViewPr>
      <p:guideLst>
        <p:guide orient="horz" pos="2192"/>
        <p:guide pos="2918"/>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customXml" Target="../customXml/item3.xml"/><Relationship Id="rId31" Type="http://schemas.openxmlformats.org/officeDocument/2006/relationships/customXml" Target="../customXml/item2.xml"/><Relationship Id="rId30" Type="http://schemas.openxmlformats.org/officeDocument/2006/relationships/customXml" Target="../customXml/item1.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97E905-54E0-4557-95E8-663674CB374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4D4EC-EA96-4A95-A639-2A76DDF98CE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hasCustomPrompt="1"/>
          </p:nvPr>
        </p:nvSpPr>
        <p:spPr>
          <a:xfrm>
            <a:off x="1371600" y="3717032"/>
            <a:ext cx="6400800" cy="1921768"/>
          </a:xfrm>
        </p:spPr>
        <p:txBody>
          <a:bodyPr>
            <a:normAutofit/>
          </a:bodyPr>
          <a:lstStyle>
            <a:lvl1pPr marL="0" indent="0" algn="ctr">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Text</a:t>
            </a:r>
            <a:endParaRPr lang="ru-RU" dirty="0"/>
          </a:p>
        </p:txBody>
      </p:sp>
      <p:sp>
        <p:nvSpPr>
          <p:cNvPr id="7" name="Заголовок 6"/>
          <p:cNvSpPr>
            <a:spLocks noGrp="1"/>
          </p:cNvSpPr>
          <p:nvPr>
            <p:ph type="title" hasCustomPrompt="1"/>
          </p:nvPr>
        </p:nvSpPr>
        <p:spPr>
          <a:xfrm>
            <a:off x="457200" y="2348880"/>
            <a:ext cx="8229600" cy="1143000"/>
          </a:xfrm>
        </p:spPr>
        <p:txBody>
          <a:bodyPr/>
          <a:lstStyle>
            <a:lvl1pPr>
              <a:defRPr b="1" cap="all" baseline="0">
                <a:solidFill>
                  <a:schemeClr val="bg1"/>
                </a:solidFill>
              </a:defRPr>
            </a:lvl1pPr>
          </a:lstStyle>
          <a:p>
            <a:r>
              <a:rPr lang="en-US" dirty="0"/>
              <a:t>Title</a:t>
            </a:r>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Рабочий слайд">
    <p:spTree>
      <p:nvGrpSpPr>
        <p:cNvPr id="1" name=""/>
        <p:cNvGrpSpPr/>
        <p:nvPr/>
      </p:nvGrpSpPr>
      <p:grpSpPr>
        <a:xfrm>
          <a:off x="0" y="0"/>
          <a:ext cx="0" cy="0"/>
          <a:chOff x="0" y="0"/>
          <a:chExt cx="0" cy="0"/>
        </a:xfrm>
      </p:grpSpPr>
      <p:sp>
        <p:nvSpPr>
          <p:cNvPr id="7" name="Прямоугольник 6"/>
          <p:cNvSpPr/>
          <p:nvPr userDrawn="1"/>
        </p:nvSpPr>
        <p:spPr>
          <a:xfrm>
            <a:off x="179512" y="404664"/>
            <a:ext cx="4752528"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hasCustomPrompt="1"/>
          </p:nvPr>
        </p:nvSpPr>
        <p:spPr>
          <a:xfrm>
            <a:off x="179512" y="404664"/>
            <a:ext cx="4680520" cy="576064"/>
          </a:xfrm>
        </p:spPr>
        <p:txBody>
          <a:bodyPr>
            <a:normAutofit/>
          </a:bodyPr>
          <a:lstStyle>
            <a:lvl1pPr algn="l">
              <a:defRPr sz="3600">
                <a:solidFill>
                  <a:schemeClr val="bg1"/>
                </a:solidFill>
              </a:defRPr>
            </a:lvl1pPr>
          </a:lstStyle>
          <a:p>
            <a:r>
              <a:rPr lang="en-US" dirty="0"/>
              <a:t>Text</a:t>
            </a:r>
            <a:endParaRPr lang="ru-RU" dirty="0"/>
          </a:p>
        </p:txBody>
      </p:sp>
      <p:sp>
        <p:nvSpPr>
          <p:cNvPr id="3" name="Объект 2"/>
          <p:cNvSpPr>
            <a:spLocks noGrp="1"/>
          </p:cNvSpPr>
          <p:nvPr>
            <p:ph idx="1" hasCustomPrompt="1"/>
          </p:nvPr>
        </p:nvSpPr>
        <p:spPr>
          <a:xfrm>
            <a:off x="179512" y="1268760"/>
            <a:ext cx="8712968" cy="532656"/>
          </a:xfrm>
        </p:spPr>
        <p:txBody>
          <a:bodyPr/>
          <a:lstStyle>
            <a:lvl1pPr marL="0" indent="0" algn="ctr">
              <a:buNone/>
              <a:defRPr>
                <a:solidFill>
                  <a:schemeClr val="accent2">
                    <a:lumMod val="75000"/>
                  </a:schemeClr>
                </a:solidFill>
              </a:defRPr>
            </a:lvl1pPr>
            <a:lvl2pPr algn="ctr">
              <a:defRPr/>
            </a:lvl2pPr>
            <a:lvl3pPr algn="ctr">
              <a:defRPr/>
            </a:lvl3pPr>
            <a:lvl4pPr algn="ctr">
              <a:defRPr/>
            </a:lvl4pPr>
            <a:lvl5pPr algn="ctr">
              <a:defRPr/>
            </a:lvl5pPr>
          </a:lstStyle>
          <a:p>
            <a:pPr lvl="0"/>
            <a:r>
              <a:rPr lang="en-US" dirty="0"/>
              <a:t>Text</a:t>
            </a:r>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Рабочий слайд с фотографией">
    <p:spTree>
      <p:nvGrpSpPr>
        <p:cNvPr id="1" name=""/>
        <p:cNvGrpSpPr/>
        <p:nvPr/>
      </p:nvGrpSpPr>
      <p:grpSpPr>
        <a:xfrm>
          <a:off x="0" y="0"/>
          <a:ext cx="0" cy="0"/>
          <a:chOff x="0" y="0"/>
          <a:chExt cx="0" cy="0"/>
        </a:xfrm>
      </p:grpSpPr>
      <p:sp>
        <p:nvSpPr>
          <p:cNvPr id="7" name="Прямоугольник 6"/>
          <p:cNvSpPr/>
          <p:nvPr userDrawn="1"/>
        </p:nvSpPr>
        <p:spPr>
          <a:xfrm>
            <a:off x="179512" y="404664"/>
            <a:ext cx="4752528"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hasCustomPrompt="1"/>
          </p:nvPr>
        </p:nvSpPr>
        <p:spPr>
          <a:xfrm>
            <a:off x="179512" y="404664"/>
            <a:ext cx="4680520" cy="576064"/>
          </a:xfrm>
        </p:spPr>
        <p:txBody>
          <a:bodyPr>
            <a:normAutofit/>
          </a:bodyPr>
          <a:lstStyle>
            <a:lvl1pPr algn="l">
              <a:defRPr sz="3600">
                <a:solidFill>
                  <a:schemeClr val="bg1"/>
                </a:solidFill>
              </a:defRPr>
            </a:lvl1pPr>
          </a:lstStyle>
          <a:p>
            <a:r>
              <a:rPr lang="en-US" dirty="0"/>
              <a:t>Text</a:t>
            </a:r>
            <a:endParaRPr lang="ru-RU" dirty="0"/>
          </a:p>
        </p:txBody>
      </p:sp>
      <p:sp>
        <p:nvSpPr>
          <p:cNvPr id="3" name="Объект 2"/>
          <p:cNvSpPr>
            <a:spLocks noGrp="1"/>
          </p:cNvSpPr>
          <p:nvPr>
            <p:ph idx="1" hasCustomPrompt="1"/>
          </p:nvPr>
        </p:nvSpPr>
        <p:spPr>
          <a:xfrm>
            <a:off x="3491880" y="1268760"/>
            <a:ext cx="5400600" cy="964704"/>
          </a:xfrm>
        </p:spPr>
        <p:txBody>
          <a:bodyPr/>
          <a:lstStyle>
            <a:lvl1pPr marL="0" indent="0" algn="l">
              <a:buNone/>
              <a:defRPr b="1">
                <a:solidFill>
                  <a:schemeClr val="bg1">
                    <a:lumMod val="50000"/>
                  </a:schemeClr>
                </a:solidFill>
              </a:defRPr>
            </a:lvl1pPr>
            <a:lvl2pPr algn="ctr">
              <a:defRPr/>
            </a:lvl2pPr>
            <a:lvl3pPr algn="ctr">
              <a:defRPr/>
            </a:lvl3pPr>
            <a:lvl4pPr algn="ctr">
              <a:defRPr/>
            </a:lvl4pPr>
            <a:lvl5pPr algn="ctr">
              <a:defRPr/>
            </a:lvl5pPr>
          </a:lstStyle>
          <a:p>
            <a:pPr lvl="0"/>
            <a:r>
              <a:rPr lang="en-US" dirty="0"/>
              <a:t>Text</a:t>
            </a:r>
            <a:endParaRPr lang="ru-RU" dirty="0"/>
          </a:p>
        </p:txBody>
      </p:sp>
      <p:sp>
        <p:nvSpPr>
          <p:cNvPr id="5" name="Текст 4"/>
          <p:cNvSpPr>
            <a:spLocks noGrp="1"/>
          </p:cNvSpPr>
          <p:nvPr>
            <p:ph type="body" sz="quarter" idx="10" hasCustomPrompt="1"/>
          </p:nvPr>
        </p:nvSpPr>
        <p:spPr>
          <a:xfrm>
            <a:off x="3492500" y="2305397"/>
            <a:ext cx="5400675" cy="3816350"/>
          </a:xfrm>
        </p:spPr>
        <p:txBody>
          <a:bodyPr>
            <a:normAutofit/>
          </a:bodyPr>
          <a:lstStyle>
            <a:lvl1pPr marL="0" indent="0">
              <a:buNone/>
              <a:defRPr sz="2800">
                <a:solidFill>
                  <a:schemeClr val="bg1">
                    <a:lumMod val="50000"/>
                  </a:schemeClr>
                </a:solidFill>
              </a:defRPr>
            </a:lvl1pPr>
            <a:lvl2pPr marL="457200" indent="0">
              <a:buNone/>
              <a:defRPr sz="2400">
                <a:solidFill>
                  <a:schemeClr val="bg1">
                    <a:lumMod val="50000"/>
                  </a:schemeClr>
                </a:solidFill>
              </a:defRPr>
            </a:lvl2pPr>
            <a:lvl3pPr marL="914400" indent="0">
              <a:buNone/>
              <a:defRPr sz="2000">
                <a:solidFill>
                  <a:schemeClr val="bg1">
                    <a:lumMod val="50000"/>
                  </a:schemeClr>
                </a:solidFill>
              </a:defRPr>
            </a:lvl3pPr>
            <a:lvl4pPr marL="1371600" indent="0">
              <a:buNone/>
              <a:defRPr sz="1800">
                <a:solidFill>
                  <a:schemeClr val="bg1">
                    <a:lumMod val="50000"/>
                  </a:schemeClr>
                </a:solidFill>
              </a:defRPr>
            </a:lvl4pPr>
            <a:lvl5pPr marL="1828800" indent="0">
              <a:buNone/>
              <a:defRPr sz="1800">
                <a:solidFill>
                  <a:schemeClr val="bg1">
                    <a:lumMod val="50000"/>
                  </a:schemeClr>
                </a:solidFill>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ru-RU" dirty="0"/>
          </a:p>
        </p:txBody>
      </p:sp>
      <p:sp>
        <p:nvSpPr>
          <p:cNvPr id="8" name="Рисунок 7"/>
          <p:cNvSpPr>
            <a:spLocks noGrp="1"/>
          </p:cNvSpPr>
          <p:nvPr>
            <p:ph type="pic" sz="quarter" idx="11" hasCustomPrompt="1"/>
          </p:nvPr>
        </p:nvSpPr>
        <p:spPr>
          <a:xfrm>
            <a:off x="184870" y="1268760"/>
            <a:ext cx="3168650" cy="3168650"/>
          </a:xfrm>
          <a:solidFill>
            <a:schemeClr val="bg1">
              <a:lumMod val="65000"/>
            </a:schemeClr>
          </a:solidFill>
        </p:spPr>
        <p:txBody>
          <a:bodyPr anchor="ctr"/>
          <a:lstStyle>
            <a:lvl1pPr marL="0" indent="0" algn="ctr">
              <a:buNone/>
              <a:defRPr>
                <a:solidFill>
                  <a:schemeClr val="bg1"/>
                </a:solidFill>
              </a:defRPr>
            </a:lvl1pPr>
          </a:lstStyle>
          <a:p>
            <a:r>
              <a:rPr lang="en-US" dirty="0" err="1"/>
              <a:t>foto</a:t>
            </a:r>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Рабочий слайд">
    <p:spTree>
      <p:nvGrpSpPr>
        <p:cNvPr id="1" name=""/>
        <p:cNvGrpSpPr/>
        <p:nvPr/>
      </p:nvGrpSpPr>
      <p:grpSpPr>
        <a:xfrm>
          <a:off x="0" y="0"/>
          <a:ext cx="0" cy="0"/>
          <a:chOff x="0" y="0"/>
          <a:chExt cx="0" cy="0"/>
        </a:xfrm>
      </p:grpSpPr>
      <p:sp>
        <p:nvSpPr>
          <p:cNvPr id="7" name="Прямоугольник 6"/>
          <p:cNvSpPr/>
          <p:nvPr userDrawn="1"/>
        </p:nvSpPr>
        <p:spPr>
          <a:xfrm>
            <a:off x="179512" y="404664"/>
            <a:ext cx="4752528"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hasCustomPrompt="1"/>
          </p:nvPr>
        </p:nvSpPr>
        <p:spPr>
          <a:xfrm>
            <a:off x="179512" y="404664"/>
            <a:ext cx="4680520" cy="576064"/>
          </a:xfrm>
        </p:spPr>
        <p:txBody>
          <a:bodyPr>
            <a:normAutofit/>
          </a:bodyPr>
          <a:lstStyle>
            <a:lvl1pPr algn="l">
              <a:defRPr sz="3600">
                <a:solidFill>
                  <a:schemeClr val="bg1"/>
                </a:solidFill>
              </a:defRPr>
            </a:lvl1pPr>
          </a:lstStyle>
          <a:p>
            <a:r>
              <a:rPr lang="en-US" dirty="0"/>
              <a:t>Text</a:t>
            </a:r>
            <a:endParaRPr lang="ru-RU" dirty="0"/>
          </a:p>
        </p:txBody>
      </p:sp>
      <p:sp>
        <p:nvSpPr>
          <p:cNvPr id="3" name="Объект 2"/>
          <p:cNvSpPr>
            <a:spLocks noGrp="1"/>
          </p:cNvSpPr>
          <p:nvPr>
            <p:ph idx="1" hasCustomPrompt="1"/>
          </p:nvPr>
        </p:nvSpPr>
        <p:spPr>
          <a:xfrm>
            <a:off x="179512" y="1196752"/>
            <a:ext cx="8712968" cy="532656"/>
          </a:xfrm>
        </p:spPr>
        <p:txBody>
          <a:bodyPr>
            <a:noAutofit/>
          </a:bodyPr>
          <a:lstStyle>
            <a:lvl1pPr marL="0" indent="0" algn="l">
              <a:buNone/>
              <a:defRPr sz="2400" b="1">
                <a:solidFill>
                  <a:schemeClr val="bg1">
                    <a:lumMod val="50000"/>
                  </a:schemeClr>
                </a:solidFill>
              </a:defRPr>
            </a:lvl1pPr>
            <a:lvl2pPr algn="ctr">
              <a:defRPr/>
            </a:lvl2pPr>
            <a:lvl3pPr algn="ctr">
              <a:defRPr/>
            </a:lvl3pPr>
            <a:lvl4pPr algn="ctr">
              <a:defRPr/>
            </a:lvl4pPr>
            <a:lvl5pPr algn="ctr">
              <a:defRPr/>
            </a:lvl5pPr>
          </a:lstStyle>
          <a:p>
            <a:pPr lvl="0"/>
            <a:r>
              <a:rPr lang="en-US" dirty="0"/>
              <a:t>Text</a:t>
            </a:r>
            <a:endParaRPr lang="ru-RU" dirty="0"/>
          </a:p>
        </p:txBody>
      </p:sp>
      <p:sp>
        <p:nvSpPr>
          <p:cNvPr id="5" name="Текст 4"/>
          <p:cNvSpPr>
            <a:spLocks noGrp="1"/>
          </p:cNvSpPr>
          <p:nvPr>
            <p:ph type="body" sz="quarter" idx="10" hasCustomPrompt="1"/>
          </p:nvPr>
        </p:nvSpPr>
        <p:spPr>
          <a:xfrm>
            <a:off x="179388" y="1801589"/>
            <a:ext cx="8713787" cy="4248150"/>
          </a:xfrm>
        </p:spPr>
        <p:txBody>
          <a:bodyPr>
            <a:normAutofit/>
          </a:bodyPr>
          <a:lstStyle>
            <a:lvl1pPr marL="0" indent="0">
              <a:buNone/>
              <a:defRPr sz="2400">
                <a:solidFill>
                  <a:schemeClr val="bg1">
                    <a:lumMod val="50000"/>
                  </a:schemeClr>
                </a:solidFill>
              </a:defRPr>
            </a:lvl1pPr>
            <a:lvl2pPr marL="457200" indent="0">
              <a:buNone/>
              <a:defRPr sz="2000">
                <a:solidFill>
                  <a:schemeClr val="bg1">
                    <a:lumMod val="50000"/>
                  </a:schemeClr>
                </a:solidFill>
              </a:defRPr>
            </a:lvl2pPr>
            <a:lvl3pPr marL="914400" indent="0">
              <a:buNone/>
              <a:defRPr sz="1800">
                <a:solidFill>
                  <a:schemeClr val="bg1">
                    <a:lumMod val="50000"/>
                  </a:schemeClr>
                </a:solidFill>
              </a:defRPr>
            </a:lvl3pPr>
            <a:lvl4pPr marL="1371600" indent="0">
              <a:buNone/>
              <a:defRPr sz="1600">
                <a:solidFill>
                  <a:schemeClr val="bg1">
                    <a:lumMod val="50000"/>
                  </a:schemeClr>
                </a:solidFill>
              </a:defRPr>
            </a:lvl4pPr>
            <a:lvl5pPr marL="1828800" indent="0">
              <a:buNone/>
              <a:defRPr sz="1600">
                <a:solidFill>
                  <a:schemeClr val="bg1">
                    <a:lumMod val="50000"/>
                  </a:schemeClr>
                </a:solidFill>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Рабочий слайд">
    <p:spTree>
      <p:nvGrpSpPr>
        <p:cNvPr id="1" name=""/>
        <p:cNvGrpSpPr/>
        <p:nvPr/>
      </p:nvGrpSpPr>
      <p:grpSpPr>
        <a:xfrm>
          <a:off x="0" y="0"/>
          <a:ext cx="0" cy="0"/>
          <a:chOff x="0" y="0"/>
          <a:chExt cx="0" cy="0"/>
        </a:xfrm>
      </p:grpSpPr>
      <p:sp>
        <p:nvSpPr>
          <p:cNvPr id="7" name="Прямоугольник 6"/>
          <p:cNvSpPr/>
          <p:nvPr userDrawn="1"/>
        </p:nvSpPr>
        <p:spPr>
          <a:xfrm>
            <a:off x="179512" y="404664"/>
            <a:ext cx="4752528"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hasCustomPrompt="1"/>
          </p:nvPr>
        </p:nvSpPr>
        <p:spPr>
          <a:xfrm>
            <a:off x="179512" y="404664"/>
            <a:ext cx="4680520" cy="576064"/>
          </a:xfrm>
        </p:spPr>
        <p:txBody>
          <a:bodyPr>
            <a:normAutofit/>
          </a:bodyPr>
          <a:lstStyle>
            <a:lvl1pPr algn="l">
              <a:defRPr sz="3600">
                <a:solidFill>
                  <a:schemeClr val="bg1"/>
                </a:solidFill>
              </a:defRPr>
            </a:lvl1pPr>
          </a:lstStyle>
          <a:p>
            <a:r>
              <a:rPr lang="en-US" dirty="0"/>
              <a:t>Text</a:t>
            </a:r>
            <a:endParaRPr lang="ru-RU" dirty="0"/>
          </a:p>
        </p:txBody>
      </p:sp>
      <p:sp>
        <p:nvSpPr>
          <p:cNvPr id="6" name="Рисунок 5"/>
          <p:cNvSpPr>
            <a:spLocks noGrp="1"/>
          </p:cNvSpPr>
          <p:nvPr>
            <p:ph type="pic" sz="quarter" idx="10" hasCustomPrompt="1"/>
          </p:nvPr>
        </p:nvSpPr>
        <p:spPr>
          <a:xfrm>
            <a:off x="179388" y="1125538"/>
            <a:ext cx="8785225" cy="5399087"/>
          </a:xfrm>
          <a:solidFill>
            <a:schemeClr val="bg1">
              <a:lumMod val="65000"/>
            </a:schemeClr>
          </a:solidFill>
        </p:spPr>
        <p:txBody>
          <a:bodyPr anchor="ctr"/>
          <a:lstStyle>
            <a:lvl1pPr marL="0" indent="0" algn="ctr">
              <a:buNone/>
              <a:defRPr>
                <a:solidFill>
                  <a:schemeClr val="bg1"/>
                </a:solidFill>
              </a:defRPr>
            </a:lvl1pPr>
          </a:lstStyle>
          <a:p>
            <a:r>
              <a:rPr lang="en-US" dirty="0" err="1"/>
              <a:t>foto</a:t>
            </a:r>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Рабочи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userDrawn="1"/>
        </p:nvSpPr>
        <p:spPr>
          <a:xfrm>
            <a:off x="4860032" y="5517232"/>
            <a:ext cx="3816424" cy="646331"/>
          </a:xfrm>
          <a:prstGeom prst="rect">
            <a:avLst/>
          </a:prstGeom>
          <a:noFill/>
        </p:spPr>
        <p:txBody>
          <a:bodyPr wrap="square" rtlCol="0">
            <a:spAutoFit/>
          </a:bodyPr>
          <a:lstStyle/>
          <a:p>
            <a:pPr algn="r"/>
            <a:r>
              <a:rPr lang="en-US" dirty="0">
                <a:solidFill>
                  <a:schemeClr val="bg1"/>
                </a:solidFill>
              </a:rPr>
              <a:t>St Petersburg University</a:t>
            </a:r>
            <a:endParaRPr lang="en-US" dirty="0">
              <a:solidFill>
                <a:schemeClr val="bg1"/>
              </a:solidFill>
            </a:endParaRPr>
          </a:p>
          <a:p>
            <a:pPr algn="r"/>
            <a:r>
              <a:rPr lang="en-US" b="1" dirty="0">
                <a:solidFill>
                  <a:schemeClr val="bg1"/>
                </a:solidFill>
              </a:rPr>
              <a:t>spbu.ru</a:t>
            </a:r>
            <a:endParaRPr lang="ru-RU" b="1" dirty="0">
              <a:solidFill>
                <a:schemeClr val="bg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3.jpe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endParaRPr lang="ru-RU"/>
          </a:p>
          <a:p>
            <a:pPr lvl="1"/>
            <a:r>
              <a:rPr lang="ru-RU"/>
              <a:t>Второй уровень</a:t>
            </a:r>
            <a:endParaRPr lang="ru-RU"/>
          </a:p>
          <a:p>
            <a:pPr lvl="2"/>
            <a:r>
              <a:rPr lang="ru-RU"/>
              <a:t>Третий уровень</a:t>
            </a:r>
            <a:endParaRPr lang="ru-RU"/>
          </a:p>
          <a:p>
            <a:pPr lvl="3"/>
            <a:r>
              <a:rPr lang="ru-RU"/>
              <a:t>Четвертый уровень</a:t>
            </a:r>
            <a:endParaRPr lang="ru-RU"/>
          </a:p>
          <a:p>
            <a:pPr lvl="4"/>
            <a:r>
              <a:rPr lang="ru-RU"/>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7983B2-6E29-409A-92B0-EBD7932440C6}" type="datetimeFigureOut">
              <a:rPr lang="ru-RU" smtClean="0"/>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743867-4E32-4E2D-8739-58246E7E28D2}" type="slidenum">
              <a:rPr lang="ru-RU" smtClean="0"/>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jpeg"/><Relationship Id="rId1" Type="http://schemas.openxmlformats.org/officeDocument/2006/relationships/image" Target="../media/image1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одзаголовок 1"/>
          <p:cNvSpPr>
            <a:spLocks noGrp="1"/>
          </p:cNvSpPr>
          <p:nvPr>
            <p:ph type="subTitle" idx="1"/>
          </p:nvPr>
        </p:nvSpPr>
        <p:spPr>
          <a:xfrm>
            <a:off x="4932040" y="4241222"/>
            <a:ext cx="3364396" cy="1872208"/>
          </a:xfrm>
        </p:spPr>
        <p:txBody>
          <a:bodyPr>
            <a:normAutofit fontScale="70000" lnSpcReduction="20000"/>
          </a:bodyPr>
          <a:lstStyle/>
          <a:p>
            <a:pPr algn="r"/>
            <a:r>
              <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rPr>
              <a:t>Yang </a:t>
            </a:r>
            <a:r>
              <a:rPr lang="en-US" altLang="zh-CN" sz="3200" dirty="0" err="1">
                <a:latin typeface="Times New Roman" panose="02020603050405020304" pitchFamily="18" charset="0"/>
                <a:ea typeface="Noto Serif CJK SC" panose="02020400000000000000" pitchFamily="18" charset="-122"/>
                <a:cs typeface="Times New Roman" panose="02020603050405020304" pitchFamily="18" charset="0"/>
              </a:rPr>
              <a:t>Mingyuan</a:t>
            </a:r>
            <a:endPar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endParaRPr>
          </a:p>
          <a:p>
            <a:pPr algn="r"/>
            <a:r>
              <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rPr>
              <a:t>Cheng </a:t>
            </a:r>
            <a:r>
              <a:rPr lang="en-US" altLang="zh-CN" sz="3200" dirty="0" err="1">
                <a:latin typeface="Times New Roman" panose="02020603050405020304" pitchFamily="18" charset="0"/>
                <a:ea typeface="Noto Serif CJK SC" panose="02020400000000000000" pitchFamily="18" charset="-122"/>
                <a:cs typeface="Times New Roman" panose="02020603050405020304" pitchFamily="18" charset="0"/>
              </a:rPr>
              <a:t>Wantong</a:t>
            </a:r>
            <a:endPar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endParaRPr>
          </a:p>
          <a:p>
            <a:pPr algn="r"/>
            <a:r>
              <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rPr>
              <a:t>Ma </a:t>
            </a:r>
            <a:r>
              <a:rPr lang="en-US" altLang="zh-CN" sz="3200" dirty="0" err="1">
                <a:latin typeface="Times New Roman" panose="02020603050405020304" pitchFamily="18" charset="0"/>
                <a:ea typeface="Noto Serif CJK SC" panose="02020400000000000000" pitchFamily="18" charset="-122"/>
                <a:cs typeface="Times New Roman" panose="02020603050405020304" pitchFamily="18" charset="0"/>
              </a:rPr>
              <a:t>Zhiwei</a:t>
            </a:r>
            <a:endPar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endParaRPr>
          </a:p>
          <a:p>
            <a:pPr algn="r"/>
            <a:r>
              <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rPr>
              <a:t>Fan </a:t>
            </a:r>
            <a:r>
              <a:rPr lang="en-US" altLang="zh-CN" sz="3200" dirty="0" err="1">
                <a:latin typeface="Times New Roman" panose="02020603050405020304" pitchFamily="18" charset="0"/>
                <a:ea typeface="Noto Serif CJK SC" panose="02020400000000000000" pitchFamily="18" charset="-122"/>
                <a:cs typeface="Times New Roman" panose="02020603050405020304" pitchFamily="18" charset="0"/>
              </a:rPr>
              <a:t>Pengbo</a:t>
            </a:r>
            <a:endParaRPr lang="az-Cyrl-AZ" altLang="zh-CN" sz="3200" dirty="0">
              <a:latin typeface="Times New Roman" panose="02020603050405020304" pitchFamily="18" charset="0"/>
              <a:ea typeface="Noto Serif CJK SC" panose="02020400000000000000" pitchFamily="18" charset="-122"/>
              <a:cs typeface="Times New Roman" panose="02020603050405020304" pitchFamily="18" charset="0"/>
            </a:endParaRPr>
          </a:p>
          <a:p>
            <a:pPr algn="r"/>
            <a:r>
              <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rPr>
              <a:t>2025.2.18</a:t>
            </a:r>
            <a:endParaRPr lang="en-US" altLang="zh-CN" sz="3200" dirty="0">
              <a:latin typeface="Times New Roman" panose="02020603050405020304" pitchFamily="18" charset="0"/>
              <a:ea typeface="Noto Serif CJK SC" panose="02020400000000000000" pitchFamily="18" charset="-122"/>
              <a:cs typeface="Times New Roman" panose="02020603050405020304" pitchFamily="18" charset="0"/>
            </a:endParaRPr>
          </a:p>
        </p:txBody>
      </p:sp>
      <p:sp>
        <p:nvSpPr>
          <p:cNvPr id="3" name="Заголовок 2"/>
          <p:cNvSpPr>
            <a:spLocks noGrp="1"/>
          </p:cNvSpPr>
          <p:nvPr>
            <p:ph type="title"/>
          </p:nvPr>
        </p:nvSpPr>
        <p:spPr>
          <a:xfrm>
            <a:off x="683568" y="1844824"/>
            <a:ext cx="7344816" cy="2065784"/>
          </a:xfrm>
        </p:spPr>
        <p:txBody>
          <a:bodyPr>
            <a:normAutofit/>
          </a:bodyPr>
          <a:lstStyle/>
          <a:p>
            <a:r>
              <a:rPr lang="en-US" altLang="zh-CN" b="0" cap="none" dirty="0">
                <a:latin typeface="Times New Roman" panose="02020603050405020304" pitchFamily="18" charset="0"/>
                <a:ea typeface="Noto Serif CJK SC" panose="02020400000000000000" pitchFamily="18" charset="-122"/>
                <a:cs typeface="Times New Roman" panose="02020603050405020304" pitchFamily="18" charset="0"/>
              </a:rPr>
              <a:t>Food recognition and segmentation</a:t>
            </a:r>
            <a:endParaRPr lang="en-US" altLang="zh-CN" b="0" cap="none" dirty="0">
              <a:latin typeface="Times New Roman" panose="02020603050405020304" pitchFamily="18" charset="0"/>
              <a:ea typeface="Noto Serif CJK SC" panose="02020400000000000000" pitchFamily="18" charset="-122"/>
              <a:cs typeface="Times New Roman" panose="02020603050405020304" pitchFamily="18"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92" y="404664"/>
            <a:ext cx="4752528" cy="576064"/>
          </a:xfrm>
        </p:spPr>
        <p:txBody>
          <a:bodyPr>
            <a:noAutofit/>
          </a:bodyPr>
          <a:lstStyle/>
          <a:p>
            <a:r>
              <a:rPr lang="en-US" altLang="zh-CN" dirty="0">
                <a:latin typeface="Times New Roman" panose="02020603050405020304" pitchFamily="18" charset="0"/>
                <a:cs typeface="Times New Roman" panose="02020603050405020304" pitchFamily="18" charset="0"/>
              </a:rPr>
              <a:t>Table of Contents</a:t>
            </a:r>
            <a:endParaRPr lang="zh-CN" altLang="en-US" dirty="0">
              <a:latin typeface="Times New Roman" panose="02020603050405020304" pitchFamily="18" charset="0"/>
              <a:cs typeface="Times New Roman" panose="02020603050405020304" pitchFamily="18" charset="0"/>
            </a:endParaRPr>
          </a:p>
        </p:txBody>
      </p:sp>
      <p:sp>
        <p:nvSpPr>
          <p:cNvPr id="4" name="矩形 3"/>
          <p:cNvSpPr/>
          <p:nvPr/>
        </p:nvSpPr>
        <p:spPr>
          <a:xfrm>
            <a:off x="395536" y="1052736"/>
            <a:ext cx="7661264" cy="6740307"/>
          </a:xfrm>
          <a:prstGeom prst="rect">
            <a:avLst/>
          </a:prstGeom>
          <a:noFill/>
        </p:spPr>
        <p:txBody>
          <a:bodyPr wrap="none" lIns="91440" tIns="45720" rIns="91440" bIns="45720">
            <a:spAutoFit/>
          </a:bodyPr>
          <a:lstStyle/>
          <a:p>
            <a:pPr algn="l"/>
            <a:r>
              <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  Competition description</a:t>
            </a:r>
            <a:endPar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l"/>
            <a:r>
              <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  Description of the data set</a:t>
            </a:r>
            <a:endPar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l"/>
            <a:r>
              <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Description of the solution</a:t>
            </a:r>
            <a:endPar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l"/>
            <a:r>
              <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  Summary</a:t>
            </a:r>
            <a:endPar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l"/>
            <a:r>
              <a:rPr lang="en-US" altLang="zh-CN" sz="3600" dirty="0">
                <a:latin typeface="Times New Roman" panose="02020603050405020304" pitchFamily="18" charset="0"/>
                <a:cs typeface="Times New Roman" panose="02020603050405020304" pitchFamily="18" charset="0"/>
              </a:rPr>
              <a:t>5.  Description of competition 1</a:t>
            </a:r>
            <a:endParaRPr lang="en-US" altLang="zh-CN" sz="3600" dirty="0">
              <a:latin typeface="Times New Roman" panose="02020603050405020304" pitchFamily="18" charset="0"/>
              <a:cs typeface="Times New Roman" panose="02020603050405020304" pitchFamily="18" charset="0"/>
            </a:endParaRPr>
          </a:p>
          <a:p>
            <a:pPr algn="l"/>
            <a:r>
              <a:rPr lang="en-US" altLang="zh-CN" sz="3600" dirty="0">
                <a:latin typeface="Times New Roman" panose="02020603050405020304" pitchFamily="18" charset="0"/>
                <a:cs typeface="Times New Roman" panose="02020603050405020304" pitchFamily="18" charset="0"/>
              </a:rPr>
              <a:t>6.  Description of competition 1’s model</a:t>
            </a:r>
            <a:endParaRPr lang="en-US" altLang="zh-CN" sz="3600" dirty="0">
              <a:latin typeface="Times New Roman" panose="02020603050405020304" pitchFamily="18" charset="0"/>
              <a:cs typeface="Times New Roman" panose="02020603050405020304" pitchFamily="18" charset="0"/>
            </a:endParaRPr>
          </a:p>
          <a:p>
            <a:r>
              <a:rPr lang="en-US" altLang="zh-CN" sz="3600" dirty="0">
                <a:latin typeface="Times New Roman" panose="02020603050405020304" pitchFamily="18" charset="0"/>
                <a:cs typeface="Times New Roman" panose="02020603050405020304" pitchFamily="18" charset="0"/>
              </a:rPr>
              <a:t>7.  Description of competition 2</a:t>
            </a:r>
            <a:endParaRPr lang="en-US" altLang="zh-CN" sz="3600" dirty="0">
              <a:latin typeface="Times New Roman" panose="02020603050405020304" pitchFamily="18" charset="0"/>
              <a:cs typeface="Times New Roman" panose="02020603050405020304" pitchFamily="18" charset="0"/>
            </a:endParaRPr>
          </a:p>
          <a:p>
            <a:r>
              <a:rPr lang="en-US" altLang="zh-CN" sz="3600" dirty="0">
                <a:latin typeface="Times New Roman" panose="02020603050405020304" pitchFamily="18" charset="0"/>
                <a:cs typeface="Times New Roman" panose="02020603050405020304" pitchFamily="18" charset="0"/>
              </a:rPr>
              <a:t>8.  Description of competition 2’s model</a:t>
            </a:r>
            <a:endParaRPr lang="en-US" altLang="zh-CN" sz="3600" dirty="0">
              <a:latin typeface="Times New Roman" panose="02020603050405020304" pitchFamily="18" charset="0"/>
              <a:cs typeface="Times New Roman" panose="02020603050405020304" pitchFamily="18" charset="0"/>
            </a:endParaRPr>
          </a:p>
          <a:p>
            <a:pPr algn="l"/>
            <a:endPar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marL="742950" indent="-742950" algn="l">
              <a:buAutoNum type="arabicPeriod" startAt="4"/>
            </a:pPr>
            <a:endPar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l"/>
            <a:endParaRPr lang="en-US" altLang="zh-CN"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l"/>
            <a:endParaRPr lang="zh-CN" altLang="en-US"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705" y="404495"/>
            <a:ext cx="4767580" cy="631825"/>
          </a:xfrm>
        </p:spPr>
        <p:txBody>
          <a:bodyPr>
            <a:normAutofit fontScale="90000"/>
          </a:bodyPr>
          <a:lstStyle/>
          <a:p>
            <a:r>
              <a:rPr lang="en-US" altLang="zh-CN" sz="4000" dirty="0">
                <a:ln w="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Competition description</a:t>
            </a:r>
            <a:endParaRPr lang="zh-CN" alt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752725" y="1196975"/>
            <a:ext cx="3374390" cy="1242060"/>
          </a:xfrm>
          <a:prstGeom prst="rect">
            <a:avLst/>
          </a:prstGeom>
        </p:spPr>
      </p:pic>
      <p:sp>
        <p:nvSpPr>
          <p:cNvPr id="4" name="文本框 3"/>
          <p:cNvSpPr txBox="1"/>
          <p:nvPr/>
        </p:nvSpPr>
        <p:spPr>
          <a:xfrm>
            <a:off x="323850" y="2997200"/>
            <a:ext cx="8232140" cy="2305050"/>
          </a:xfrm>
          <a:prstGeom prst="rect">
            <a:avLst/>
          </a:prstGeom>
          <a:noFill/>
        </p:spPr>
        <p:txBody>
          <a:bodyPr wrap="square" rtlCol="0">
            <a:noAutofit/>
          </a:bodyPr>
          <a:lstStyle/>
          <a:p>
            <a:pPr indent="0" algn="just" fontAlgn="auto"/>
            <a:r>
              <a:rPr lang="en-US" altLang="zh-CN"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Recognizing food from images is an extremely useful tool for various use cases. In particular, it would allow people to track their food intake by simply taking a picture of what they consume.</a:t>
            </a:r>
            <a:endParaRPr lang="en-US" altLang="zh-CN" sz="2400" dirty="0">
              <a:latin typeface="Times New Roman" panose="02020603050405020304" pitchFamily="18" charset="0"/>
              <a:cs typeface="Times New Roman" panose="02020603050405020304" pitchFamily="18" charset="0"/>
            </a:endParaRPr>
          </a:p>
          <a:p>
            <a:pPr indent="0" algn="just" fontAlgn="auto"/>
            <a:r>
              <a:rPr lang="en-US" altLang="zh-CN" sz="2400" dirty="0">
                <a:latin typeface="Times New Roman" panose="02020603050405020304" pitchFamily="18" charset="0"/>
                <a:cs typeface="Times New Roman" panose="02020603050405020304" pitchFamily="18" charset="0"/>
              </a:rPr>
              <a:t>      The competition is to identify pictures of food that people eat and analyze the composition of the food in the pictures.</a:t>
            </a: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850" y="404495"/>
            <a:ext cx="5382260" cy="575945"/>
          </a:xfrm>
        </p:spPr>
        <p:txBody>
          <a:bodyPr>
            <a:noAutofit/>
          </a:bodyPr>
          <a:lstStyle/>
          <a:p>
            <a:r>
              <a:rPr lang="en-US" altLang="zh-CN" sz="3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Description of the data set</a:t>
            </a:r>
            <a:endParaRPr lang="en-US" altLang="zh-CN" sz="3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pic>
        <p:nvPicPr>
          <p:cNvPr id="3" name="图片 2"/>
          <p:cNvPicPr>
            <a:picLocks noChangeAspect="1"/>
          </p:cNvPicPr>
          <p:nvPr/>
        </p:nvPicPr>
        <p:blipFill>
          <a:blip r:embed="rId1"/>
          <a:stretch>
            <a:fillRect/>
          </a:stretch>
        </p:blipFill>
        <p:spPr>
          <a:xfrm>
            <a:off x="1507490" y="1268730"/>
            <a:ext cx="6129020" cy="2932430"/>
          </a:xfrm>
          <a:prstGeom prst="rect">
            <a:avLst/>
          </a:prstGeom>
        </p:spPr>
      </p:pic>
      <p:sp>
        <p:nvSpPr>
          <p:cNvPr id="5" name="文本框 4"/>
          <p:cNvSpPr txBox="1"/>
          <p:nvPr/>
        </p:nvSpPr>
        <p:spPr>
          <a:xfrm>
            <a:off x="835025" y="4446270"/>
            <a:ext cx="7409815" cy="1322070"/>
          </a:xfrm>
          <a:prstGeom prst="rect">
            <a:avLst/>
          </a:prstGeom>
          <a:noFill/>
        </p:spPr>
        <p:txBody>
          <a:bodyPr wrap="square" rtlCol="0">
            <a:spAutoFit/>
          </a:bodyPr>
          <a:lstStyle/>
          <a:p>
            <a:pPr indent="0" algn="just" fontAlgn="auto"/>
            <a:r>
              <a:rPr lang="en-US" altLang="zh-CN"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 competition uses a novel dataset of food images collected through the </a:t>
            </a:r>
            <a:r>
              <a:rPr lang="en-US" altLang="zh-CN" sz="2000" dirty="0" err="1">
                <a:latin typeface="Times New Roman" panose="02020603050405020304" pitchFamily="18" charset="0"/>
                <a:cs typeface="Times New Roman" panose="02020603050405020304" pitchFamily="18" charset="0"/>
              </a:rPr>
              <a:t>MyFoodRepo</a:t>
            </a:r>
            <a:r>
              <a:rPr lang="en-US" altLang="zh-CN" sz="2000" dirty="0">
                <a:latin typeface="Times New Roman" panose="02020603050405020304" pitchFamily="18" charset="0"/>
                <a:cs typeface="Times New Roman" panose="02020603050405020304" pitchFamily="18" charset="0"/>
              </a:rPr>
              <a:t> app, where numerous volunteer Swiss users provide images of their daily food intake in the context of a digital cohort called Food &amp; You.</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850" y="404495"/>
            <a:ext cx="5963920" cy="575945"/>
          </a:xfrm>
        </p:spPr>
        <p:txBody>
          <a:bodyPr>
            <a:normAutofit fontScale="90000"/>
          </a:bodyPr>
          <a:lstStyle/>
          <a:p>
            <a:r>
              <a:rPr lang="en-US" altLang="zh-CN"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Description of the</a:t>
            </a:r>
            <a:r>
              <a:rPr lang="en-US" altLang="zh-CN" sz="4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zh-CN" sz="3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solution</a:t>
            </a:r>
            <a:endParaRPr lang="zh-CN" altLang="en-US" sz="2400"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539750" y="1701165"/>
            <a:ext cx="7758430" cy="4092575"/>
          </a:xfrm>
          <a:prstGeom prst="rect">
            <a:avLst/>
          </a:prstGeom>
          <a:noFill/>
        </p:spPr>
        <p:txBody>
          <a:bodyPr wrap="square" rtlCol="0">
            <a:spAutoFit/>
          </a:bodyPr>
          <a:lstStyle/>
          <a:p>
            <a:pPr marL="285750" indent="-285750" algn="just" fontAlgn="auto">
              <a:buFont typeface="Wingdings" panose="05000000000000000000" charset="0"/>
              <a:buChar char="Ø"/>
            </a:pPr>
            <a:r>
              <a:rPr lang="en-US" altLang="zh-CN" sz="2000" dirty="0">
                <a:latin typeface="Times New Roman" panose="02020603050405020304" pitchFamily="18" charset="0"/>
                <a:cs typeface="Times New Roman" panose="02020603050405020304" pitchFamily="18" charset="0"/>
              </a:rPr>
              <a:t>Participant 1 used </a:t>
            </a:r>
            <a:r>
              <a:rPr lang="en-US" altLang="zh-CN" sz="2000" b="1" dirty="0">
                <a:latin typeface="Times New Roman" panose="02020603050405020304" pitchFamily="18" charset="0"/>
                <a:cs typeface="Times New Roman" panose="02020603050405020304" pitchFamily="18" charset="0"/>
              </a:rPr>
              <a:t>MMDetection</a:t>
            </a:r>
            <a:r>
              <a:rPr lang="en-US" altLang="zh-CN" sz="2000" dirty="0">
                <a:latin typeface="Times New Roman" panose="02020603050405020304" pitchFamily="18" charset="0"/>
                <a:cs typeface="Times New Roman" panose="02020603050405020304" pitchFamily="18" charset="0"/>
              </a:rPr>
              <a:t> framework and </a:t>
            </a:r>
            <a:r>
              <a:rPr lang="en-US" altLang="zh-CN" sz="2000" b="1" dirty="0">
                <a:latin typeface="Times New Roman" panose="02020603050405020304" pitchFamily="18" charset="0"/>
                <a:cs typeface="Times New Roman" panose="02020603050405020304" pitchFamily="18" charset="0"/>
              </a:rPr>
              <a:t>Mask R-CNN</a:t>
            </a:r>
            <a:r>
              <a:rPr lang="en-US" altLang="zh-CN" sz="2000" dirty="0">
                <a:latin typeface="Times New Roman" panose="02020603050405020304" pitchFamily="18" charset="0"/>
                <a:cs typeface="Times New Roman" panose="02020603050405020304" pitchFamily="18" charset="0"/>
              </a:rPr>
              <a:t> model to automatically detect and segment food objects in images, generate boundary boxes and segment masks, and solve the task of image object detection and segmentation.</a:t>
            </a:r>
            <a:endParaRPr lang="en-US" altLang="zh-CN" sz="2000" dirty="0">
              <a:latin typeface="Times New Roman" panose="02020603050405020304" pitchFamily="18" charset="0"/>
              <a:cs typeface="Times New Roman" panose="02020603050405020304" pitchFamily="18" charset="0"/>
            </a:endParaRPr>
          </a:p>
          <a:p>
            <a:pPr marL="285750" indent="-285750" algn="just" fontAlgn="auto">
              <a:buFont typeface="Wingdings" panose="05000000000000000000" charset="0"/>
              <a:buChar char="Ø"/>
            </a:pPr>
            <a:endParaRPr lang="en-US" altLang="zh-CN" sz="2000" dirty="0">
              <a:latin typeface="Times New Roman" panose="02020603050405020304" pitchFamily="18" charset="0"/>
              <a:cs typeface="Times New Roman" panose="02020603050405020304" pitchFamily="18" charset="0"/>
            </a:endParaRPr>
          </a:p>
          <a:p>
            <a:pPr marL="285750" indent="-285750" algn="just" fontAlgn="auto">
              <a:buFont typeface="Wingdings" panose="05000000000000000000" charset="0"/>
              <a:buChar char="Ø"/>
            </a:pPr>
            <a:r>
              <a:rPr lang="en-US" altLang="zh-CN" sz="2000" dirty="0">
                <a:latin typeface="Times New Roman" panose="02020603050405020304" pitchFamily="18" charset="0"/>
                <a:cs typeface="Times New Roman" panose="02020603050405020304" pitchFamily="18" charset="0"/>
              </a:rPr>
              <a:t>Participant 2 used the instance segmentation model (such as </a:t>
            </a:r>
            <a:r>
              <a:rPr lang="en-US" altLang="zh-CN" sz="2000" b="1" dirty="0">
                <a:latin typeface="Times New Roman" panose="02020603050405020304" pitchFamily="18" charset="0"/>
                <a:cs typeface="Times New Roman" panose="02020603050405020304" pitchFamily="18" charset="0"/>
              </a:rPr>
              <a:t>Mask R-CNN</a:t>
            </a:r>
            <a:r>
              <a:rPr lang="en-US" altLang="zh-CN" sz="2000" dirty="0">
                <a:latin typeface="Times New Roman" panose="02020603050405020304" pitchFamily="18" charset="0"/>
                <a:cs typeface="Times New Roman" panose="02020603050405020304" pitchFamily="18" charset="0"/>
              </a:rPr>
              <a:t>) in the </a:t>
            </a:r>
            <a:r>
              <a:rPr lang="en-US" altLang="zh-CN" sz="2000" b="1" dirty="0">
                <a:latin typeface="Times New Roman" panose="02020603050405020304" pitchFamily="18" charset="0"/>
                <a:cs typeface="Times New Roman" panose="02020603050405020304" pitchFamily="18" charset="0"/>
              </a:rPr>
              <a:t>MMDetection</a:t>
            </a:r>
            <a:r>
              <a:rPr lang="en-US" altLang="zh-CN" sz="2000" dirty="0">
                <a:latin typeface="Times New Roman" panose="02020603050405020304" pitchFamily="18" charset="0"/>
                <a:cs typeface="Times New Roman" panose="02020603050405020304" pitchFamily="18" charset="0"/>
              </a:rPr>
              <a:t> framework to detect and accurately segment food images, and evaluated the model performance by calculating evaluation indexes such as </a:t>
            </a:r>
            <a:r>
              <a:rPr lang="en-US" altLang="zh-CN" sz="2000" b="1" dirty="0">
                <a:latin typeface="Times New Roman" panose="02020603050405020304" pitchFamily="18" charset="0"/>
                <a:cs typeface="Times New Roman" panose="02020603050405020304" pitchFamily="18" charset="0"/>
              </a:rPr>
              <a:t>mAP and mAR</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285750" indent="-285750" algn="just" fontAlgn="auto">
              <a:buFont typeface="Wingdings" panose="05000000000000000000" charset="0"/>
              <a:buChar char="Ø"/>
            </a:pPr>
            <a:endParaRPr lang="en-US" altLang="zh-CN" sz="2000" dirty="0">
              <a:latin typeface="Times New Roman" panose="02020603050405020304" pitchFamily="18" charset="0"/>
              <a:cs typeface="Times New Roman" panose="02020603050405020304" pitchFamily="18" charset="0"/>
            </a:endParaRPr>
          </a:p>
          <a:p>
            <a:pPr marL="285750" indent="-285750" algn="just" fontAlgn="auto">
              <a:buFont typeface="Wingdings" panose="05000000000000000000" charset="0"/>
              <a:buChar char="Ø"/>
            </a:pPr>
            <a:r>
              <a:rPr lang="en-US" altLang="zh-CN" sz="2000" dirty="0">
                <a:latin typeface="Times New Roman" panose="02020603050405020304" pitchFamily="18" charset="0"/>
                <a:cs typeface="Times New Roman" panose="02020603050405020304" pitchFamily="18" charset="0"/>
              </a:rPr>
              <a:t>Participant 3 used </a:t>
            </a:r>
            <a:r>
              <a:rPr lang="en-US" altLang="zh-CN" sz="2000" b="1" dirty="0">
                <a:latin typeface="Times New Roman" panose="02020603050405020304" pitchFamily="18" charset="0"/>
                <a:cs typeface="Times New Roman" panose="02020603050405020304" pitchFamily="18" charset="0"/>
              </a:rPr>
              <a:t>MMDetection</a:t>
            </a:r>
            <a:r>
              <a:rPr lang="en-US" altLang="zh-CN" sz="2000" dirty="0">
                <a:latin typeface="Times New Roman" panose="02020603050405020304" pitchFamily="18" charset="0"/>
                <a:cs typeface="Times New Roman" panose="02020603050405020304" pitchFamily="18" charset="0"/>
              </a:rPr>
              <a:t> framework and pre-trained object detection model (such as </a:t>
            </a:r>
            <a:r>
              <a:rPr lang="en-US" altLang="zh-CN" sz="2000" b="1" dirty="0">
                <a:latin typeface="Times New Roman" panose="02020603050405020304" pitchFamily="18" charset="0"/>
                <a:cs typeface="Times New Roman" panose="02020603050405020304" pitchFamily="18" charset="0"/>
              </a:rPr>
              <a:t>HybridTaskCascade</a:t>
            </a:r>
            <a:r>
              <a:rPr lang="en-US" altLang="zh-CN" sz="2000" dirty="0">
                <a:latin typeface="Times New Roman" panose="02020603050405020304" pitchFamily="18" charset="0"/>
                <a:cs typeface="Times New Roman" panose="02020603050405020304" pitchFamily="18" charset="0"/>
              </a:rPr>
              <a:t>) for image inference, and solved object detection and instance segmentation problems.</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404664"/>
            <a:ext cx="4680520" cy="576064"/>
          </a:xfrm>
        </p:spPr>
        <p:txBody>
          <a:bodyPr>
            <a:normAutofit fontScale="90000"/>
          </a:bodyPr>
          <a:lstStyle/>
          <a:p>
            <a:r>
              <a:rPr lang="en-US" altLang="zh-CN" sz="4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Competition description</a:t>
            </a:r>
            <a:endParaRPr lang="zh-CN" altLang="en-US" sz="240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1763688" y="1198670"/>
            <a:ext cx="5328592" cy="1716264"/>
          </a:xfrm>
          <a:prstGeom prst="rect">
            <a:avLst/>
          </a:prstGeom>
        </p:spPr>
      </p:pic>
      <p:sp>
        <p:nvSpPr>
          <p:cNvPr id="4" name="文本框 3"/>
          <p:cNvSpPr txBox="1"/>
          <p:nvPr/>
        </p:nvSpPr>
        <p:spPr>
          <a:xfrm>
            <a:off x="683568" y="3429000"/>
            <a:ext cx="7776864" cy="2862322"/>
          </a:xfrm>
          <a:prstGeom prst="rect">
            <a:avLst/>
          </a:prstGeom>
          <a:noFill/>
        </p:spPr>
        <p:txBody>
          <a:bodyPr wrap="square" rtlCol="0">
            <a:spAutoFit/>
          </a:bodyPr>
          <a:lstStyle/>
          <a:p>
            <a:pPr indent="457200"/>
            <a:r>
              <a:rPr lang="en-US" altLang="zh-CN" sz="2000" dirty="0">
                <a:latin typeface="Times New Roman" panose="02020603050405020304" pitchFamily="18" charset="0"/>
                <a:cs typeface="Times New Roman" panose="02020603050405020304" pitchFamily="18" charset="0"/>
              </a:rPr>
              <a:t>The challenge aims to improve image-based product search on e-commerce platforms through computer vision technology, addressing the limitations of traditional text search.</a:t>
            </a:r>
            <a:br>
              <a:rPr lang="en-US" altLang="zh-CN" sz="2000" dirty="0">
                <a:latin typeface="Times New Roman" panose="02020603050405020304" pitchFamily="18" charset="0"/>
                <a:cs typeface="Times New Roman" panose="02020603050405020304" pitchFamily="18" charset="0"/>
              </a:rPr>
            </a:br>
            <a:r>
              <a:rPr lang="en-US" altLang="zh-CN" sz="2000" dirty="0">
                <a:latin typeface="Times New Roman" panose="02020603050405020304" pitchFamily="18" charset="0"/>
                <a:cs typeface="Times New Roman" panose="02020603050405020304" pitchFamily="18" charset="0"/>
              </a:rPr>
              <a:t>       Using more than 40,000 images from real markets, covering 9,000 products, the challenge evaluates the performance of image retrieval algorithms in real scenarios, especially in dealing with factors such as image perspective, background clutter, and quality changes.</a:t>
            </a:r>
            <a:endParaRPr lang="en-US" altLang="zh-CN" sz="2000" dirty="0">
              <a:latin typeface="Times New Roman" panose="02020603050405020304" pitchFamily="18" charset="0"/>
              <a:cs typeface="Times New Roman" panose="02020603050405020304" pitchFamily="18" charset="0"/>
            </a:endParaRPr>
          </a:p>
          <a:p>
            <a:pPr indent="457200" algn="just"/>
            <a:endParaRPr lang="en-US" altLang="zh-CN" sz="2000" dirty="0">
              <a:latin typeface="Times New Roman" panose="02020603050405020304" pitchFamily="18" charset="0"/>
              <a:cs typeface="Times New Roman" panose="02020603050405020304" pitchFamily="18" charset="0"/>
            </a:endParaRPr>
          </a:p>
          <a:p>
            <a:pPr indent="457200" algn="just"/>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404664"/>
            <a:ext cx="5544616" cy="576064"/>
          </a:xfrm>
        </p:spPr>
        <p:txBody>
          <a:bodyPr>
            <a:noAutofit/>
          </a:bodyPr>
          <a:lstStyle/>
          <a:p>
            <a:r>
              <a:rPr lang="en-US" altLang="zh-CN" sz="3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Description of the data set</a:t>
            </a:r>
            <a:endParaRPr lang="zh-CN" altLang="en-US" sz="20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683568" y="1340768"/>
            <a:ext cx="4464496" cy="3384376"/>
          </a:xfrm>
          <a:prstGeom prst="rect">
            <a:avLst/>
          </a:prstGeom>
        </p:spPr>
      </p:pic>
      <p:sp>
        <p:nvSpPr>
          <p:cNvPr id="5" name="文本框 4"/>
          <p:cNvSpPr txBox="1"/>
          <p:nvPr/>
        </p:nvSpPr>
        <p:spPr>
          <a:xfrm>
            <a:off x="772957" y="5157192"/>
            <a:ext cx="7488832" cy="707886"/>
          </a:xfrm>
          <a:prstGeom prst="rect">
            <a:avLst/>
          </a:prstGeom>
          <a:noFill/>
        </p:spPr>
        <p:txBody>
          <a:bodyPr wrap="square" rtlCol="0">
            <a:spAutoFit/>
          </a:bodyPr>
          <a:lstStyle/>
          <a:p>
            <a:pPr indent="457200"/>
            <a:r>
              <a:rPr lang="en-US" altLang="zh-CN" sz="2000" dirty="0">
                <a:latin typeface="Times New Roman" panose="02020603050405020304" pitchFamily="18" charset="0"/>
                <a:cs typeface="Times New Roman" panose="02020603050405020304" pitchFamily="18" charset="0"/>
              </a:rPr>
              <a:t>Dataset contains images extracted for a subset of </a:t>
            </a:r>
            <a:r>
              <a:rPr lang="en-US" altLang="zh-CN" sz="2000" dirty="0" err="1">
                <a:latin typeface="Times New Roman" panose="02020603050405020304" pitchFamily="18" charset="0"/>
                <a:cs typeface="Times New Roman" panose="02020603050405020304" pitchFamily="18" charset="0"/>
              </a:rPr>
              <a:t>alibaba</a:t>
            </a:r>
            <a:r>
              <a:rPr lang="en-US" altLang="zh-CN" sz="2000" dirty="0">
                <a:latin typeface="Times New Roman" panose="02020603050405020304" pitchFamily="18" charset="0"/>
                <a:cs typeface="Times New Roman" panose="02020603050405020304" pitchFamily="18" charset="0"/>
              </a:rPr>
              <a:t> goods categories. Each good contains one or several photos.</a:t>
            </a:r>
            <a:endParaRPr lang="zh-CN" altLang="en-US" sz="200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2"/>
          <a:stretch>
            <a:fillRect/>
          </a:stretch>
        </p:blipFill>
        <p:spPr>
          <a:xfrm>
            <a:off x="5508104" y="1110553"/>
            <a:ext cx="2592288" cy="3686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404664"/>
            <a:ext cx="5400600" cy="576064"/>
          </a:xfrm>
        </p:spPr>
        <p:txBody>
          <a:bodyPr>
            <a:noAutofit/>
          </a:bodyPr>
          <a:lstStyle/>
          <a:p>
            <a:r>
              <a:rPr lang="en-US" altLang="zh-CN" sz="3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Description of the solution</a:t>
            </a:r>
            <a:endParaRPr lang="zh-CN" altLang="en-US" sz="2000"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971600" y="2151727"/>
            <a:ext cx="6912768" cy="2862322"/>
          </a:xfrm>
          <a:prstGeom prst="rect">
            <a:avLst/>
          </a:prstGeom>
          <a:noFill/>
        </p:spPr>
        <p:txBody>
          <a:bodyPr wrap="square" rtlCol="0">
            <a:spAutoFit/>
          </a:bodyPr>
          <a:lstStyle/>
          <a:p>
            <a:pPr marL="342900" indent="342900" algn="jus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Participant 2 trained a deep learning model based on XBM (eXtreme-Backpropagation Memory) technology for image classification and retrieval on e-commerce platforms. Through image enhancement, pre-trained model loading, and PyTorch Lightning, the model efficiently processes large-scale image data and improves the visual search capabilities of e-commerce platforms. Learning rate monitoring, early stopping, and model checkpoint callbacks are used during training to optimize performance</a:t>
            </a: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404664"/>
            <a:ext cx="2376264" cy="576064"/>
          </a:xfrm>
        </p:spPr>
        <p:txBody>
          <a:bodyPr>
            <a:noAutofit/>
          </a:bodyPr>
          <a:lstStyle/>
          <a:p>
            <a:r>
              <a:rPr lang="en-US" altLang="zh-CN" dirty="0">
                <a:latin typeface="Times New Roman" panose="02020603050405020304" pitchFamily="18" charset="0"/>
                <a:cs typeface="Times New Roman" panose="02020603050405020304" pitchFamily="18" charset="0"/>
              </a:rPr>
              <a:t>Summary</a:t>
            </a:r>
            <a:endParaRPr lang="zh-CN" altLang="en-US"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1043608" y="2348880"/>
            <a:ext cx="6912768" cy="1938992"/>
          </a:xfrm>
          <a:prstGeom prst="rect">
            <a:avLst/>
          </a:prstGeom>
          <a:noFill/>
        </p:spPr>
        <p:txBody>
          <a:bodyPr wrap="square" rtlCol="0">
            <a:spAutoFit/>
          </a:bodyPr>
          <a:lstStyle/>
          <a:p>
            <a:pPr indent="457200"/>
            <a:r>
              <a:rPr lang="en-US" altLang="zh-CN" sz="2400" dirty="0">
                <a:latin typeface="Times New Roman" panose="02020603050405020304" pitchFamily="18" charset="0"/>
                <a:cs typeface="Times New Roman" panose="02020603050405020304" pitchFamily="18" charset="0"/>
              </a:rPr>
              <a:t>We chose the food-recognition-benchmark-2022 competition because the experimental data provided in this competition is more complete. If we do this experiment, it can provide more reference schemes to compare and modify our experiments.</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778" y="404199"/>
            <a:ext cx="4680520" cy="576064"/>
          </a:xfrm>
        </p:spPr>
        <p:txBody>
          <a:bodyPr>
            <a:normAutofit/>
          </a:bodyPr>
          <a:lstStyle/>
          <a:p>
            <a:r>
              <a:rPr lang="en-US" altLang="zh-CN" sz="2400" dirty="0">
                <a:latin typeface="Times New Roman" panose="02020603050405020304" pitchFamily="18" charset="0"/>
                <a:cs typeface="Times New Roman" panose="02020603050405020304" pitchFamily="18" charset="0"/>
              </a:rPr>
              <a:t>Description of competition 1</a:t>
            </a:r>
            <a:endParaRPr lang="en-US" altLang="zh-CN" sz="2400" dirty="0">
              <a:latin typeface="Times New Roman" panose="02020603050405020304" pitchFamily="18" charset="0"/>
              <a:cs typeface="Times New Roman" panose="02020603050405020304" pitchFamily="18" charset="0"/>
            </a:endParaRPr>
          </a:p>
        </p:txBody>
      </p:sp>
      <p:sp>
        <p:nvSpPr>
          <p:cNvPr id="3" name="矩形 2"/>
          <p:cNvSpPr/>
          <p:nvPr/>
        </p:nvSpPr>
        <p:spPr>
          <a:xfrm>
            <a:off x="1312867" y="2838101"/>
            <a:ext cx="1728192" cy="720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1.Load Test Image</a:t>
            </a:r>
            <a:endParaRPr lang="zh-CN" altLang="en-US" sz="1600" dirty="0">
              <a:latin typeface="Times New Roman" panose="02020603050405020304" pitchFamily="18" charset="0"/>
              <a:cs typeface="Times New Roman" panose="02020603050405020304" pitchFamily="18" charset="0"/>
            </a:endParaRPr>
          </a:p>
        </p:txBody>
      </p:sp>
      <p:sp>
        <p:nvSpPr>
          <p:cNvPr id="6" name="矩形 5"/>
          <p:cNvSpPr/>
          <p:nvPr/>
        </p:nvSpPr>
        <p:spPr>
          <a:xfrm>
            <a:off x="3833147" y="2838101"/>
            <a:ext cx="1728192" cy="720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2.Preprocessed Image</a:t>
            </a:r>
            <a:endParaRPr lang="zh-CN" altLang="en-US" sz="1600" dirty="0">
              <a:latin typeface="Times New Roman" panose="02020603050405020304" pitchFamily="18" charset="0"/>
              <a:cs typeface="Times New Roman" panose="02020603050405020304" pitchFamily="18" charset="0"/>
            </a:endParaRPr>
          </a:p>
        </p:txBody>
      </p:sp>
      <p:sp>
        <p:nvSpPr>
          <p:cNvPr id="7" name="矩形 6"/>
          <p:cNvSpPr/>
          <p:nvPr/>
        </p:nvSpPr>
        <p:spPr>
          <a:xfrm>
            <a:off x="6353427" y="2836622"/>
            <a:ext cx="1728192" cy="720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3.Load Detection Model</a:t>
            </a:r>
            <a:endParaRPr lang="zh-CN" altLang="en-US" sz="1600" dirty="0">
              <a:latin typeface="Times New Roman" panose="02020603050405020304" pitchFamily="18" charset="0"/>
              <a:cs typeface="Times New Roman" panose="02020603050405020304" pitchFamily="18" charset="0"/>
            </a:endParaRPr>
          </a:p>
        </p:txBody>
      </p:sp>
      <p:sp>
        <p:nvSpPr>
          <p:cNvPr id="8" name="矩形 7"/>
          <p:cNvSpPr/>
          <p:nvPr/>
        </p:nvSpPr>
        <p:spPr>
          <a:xfrm>
            <a:off x="6353427" y="4350269"/>
            <a:ext cx="1728192" cy="720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4. Perform Object Detection</a:t>
            </a:r>
            <a:endParaRPr lang="zh-CN" altLang="en-US" sz="1600" dirty="0">
              <a:latin typeface="Times New Roman" panose="02020603050405020304" pitchFamily="18" charset="0"/>
              <a:cs typeface="Times New Roman" panose="02020603050405020304" pitchFamily="18" charset="0"/>
            </a:endParaRPr>
          </a:p>
        </p:txBody>
      </p:sp>
      <p:sp>
        <p:nvSpPr>
          <p:cNvPr id="9" name="矩形 8"/>
          <p:cNvSpPr/>
          <p:nvPr/>
        </p:nvSpPr>
        <p:spPr>
          <a:xfrm>
            <a:off x="3833147" y="4350269"/>
            <a:ext cx="1728192" cy="720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5.Generate Predictions</a:t>
            </a:r>
            <a:endParaRPr lang="zh-CN" altLang="en-US" sz="1600" dirty="0">
              <a:latin typeface="Times New Roman" panose="02020603050405020304" pitchFamily="18" charset="0"/>
              <a:cs typeface="Times New Roman" panose="02020603050405020304" pitchFamily="18" charset="0"/>
            </a:endParaRPr>
          </a:p>
        </p:txBody>
      </p:sp>
      <p:sp>
        <p:nvSpPr>
          <p:cNvPr id="10" name="矩形 9"/>
          <p:cNvSpPr/>
          <p:nvPr/>
        </p:nvSpPr>
        <p:spPr>
          <a:xfrm>
            <a:off x="1312867" y="4350269"/>
            <a:ext cx="1728192" cy="720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6. Compute Evaluation(mAP, mAR)</a:t>
            </a:r>
            <a:endParaRPr lang="zh-CN" altLang="en-US" sz="1600" dirty="0">
              <a:latin typeface="Times New Roman" panose="02020603050405020304" pitchFamily="18" charset="0"/>
              <a:cs typeface="Times New Roman" panose="02020603050405020304" pitchFamily="18" charset="0"/>
            </a:endParaRPr>
          </a:p>
        </p:txBody>
      </p:sp>
      <p:sp>
        <p:nvSpPr>
          <p:cNvPr id="11" name="矩形 10"/>
          <p:cNvSpPr/>
          <p:nvPr/>
        </p:nvSpPr>
        <p:spPr>
          <a:xfrm>
            <a:off x="1312658" y="5862437"/>
            <a:ext cx="1728192" cy="7200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7.Output Final Result</a:t>
            </a:r>
            <a:endParaRPr lang="zh-CN" altLang="en-US" sz="1600" dirty="0">
              <a:latin typeface="Times New Roman" panose="02020603050405020304" pitchFamily="18" charset="0"/>
              <a:cs typeface="Times New Roman" panose="02020603050405020304" pitchFamily="18" charset="0"/>
            </a:endParaRPr>
          </a:p>
        </p:txBody>
      </p:sp>
      <p:sp>
        <p:nvSpPr>
          <p:cNvPr id="15" name="箭头: 右 14"/>
          <p:cNvSpPr/>
          <p:nvPr/>
        </p:nvSpPr>
        <p:spPr>
          <a:xfrm>
            <a:off x="3040641" y="3093940"/>
            <a:ext cx="792297"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箭头: 右 15"/>
          <p:cNvSpPr/>
          <p:nvPr/>
        </p:nvSpPr>
        <p:spPr>
          <a:xfrm>
            <a:off x="5561130" y="3093940"/>
            <a:ext cx="792297" cy="2160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7"/>
          <p:cNvSpPr/>
          <p:nvPr/>
        </p:nvSpPr>
        <p:spPr>
          <a:xfrm>
            <a:off x="7109511" y="3558880"/>
            <a:ext cx="216024" cy="7935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p:cNvSpPr/>
          <p:nvPr/>
        </p:nvSpPr>
        <p:spPr>
          <a:xfrm>
            <a:off x="2068742" y="5068870"/>
            <a:ext cx="216024" cy="7935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左 21"/>
          <p:cNvSpPr/>
          <p:nvPr/>
        </p:nvSpPr>
        <p:spPr>
          <a:xfrm>
            <a:off x="5561129" y="4602297"/>
            <a:ext cx="792297" cy="21602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左 22"/>
          <p:cNvSpPr/>
          <p:nvPr/>
        </p:nvSpPr>
        <p:spPr>
          <a:xfrm>
            <a:off x="3040640" y="4602297"/>
            <a:ext cx="792297" cy="21602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238445" y="1024518"/>
            <a:ext cx="6816906" cy="1753235"/>
          </a:xfrm>
          <a:prstGeom prst="rect">
            <a:avLst/>
          </a:prstGeom>
          <a:noFill/>
        </p:spPr>
        <p:txBody>
          <a:bodyPr wrap="square" rtlCol="0">
            <a:spAutoFit/>
          </a:bodyPr>
          <a:lstStyle/>
          <a:p>
            <a:pPr algn="just"/>
            <a:r>
              <a:rPr lang="en-US" altLang="zh-CN" dirty="0"/>
              <a:t>          </a:t>
            </a:r>
            <a:r>
              <a:rPr lang="en-US" altLang="zh-CN" dirty="0">
                <a:latin typeface="Times New Roman" panose="02020603050405020304" pitchFamily="18" charset="0"/>
                <a:cs typeface="Times New Roman" panose="02020603050405020304" pitchFamily="18" charset="0"/>
              </a:rPr>
              <a:t>Participant 1 realized food detection and evaluation. He used a deep learning model to process images, detect food targets, generate prediction results, calculate evaluation indicators such as average precision mean (mAP) and average recall mean (mAR), and finally output detection results to analyze the composition of food in the pictures.</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404664"/>
            <a:ext cx="4824536" cy="576064"/>
          </a:xfrm>
        </p:spPr>
        <p:txBody>
          <a:bodyPr>
            <a:noAutofit/>
          </a:bodyPr>
          <a:lstStyle/>
          <a:p>
            <a:r>
              <a:rPr lang="en-US" altLang="zh-CN" sz="2400" dirty="0">
                <a:latin typeface="Times New Roman" panose="02020603050405020304" pitchFamily="18" charset="0"/>
                <a:cs typeface="Times New Roman" panose="02020603050405020304" pitchFamily="18" charset="0"/>
              </a:rPr>
              <a:t>Description of competition 1’s model</a:t>
            </a:r>
            <a:endParaRPr lang="zh-CN" altLang="en-US" sz="2400" dirty="0"/>
          </a:p>
        </p:txBody>
      </p:sp>
      <p:pic>
        <p:nvPicPr>
          <p:cNvPr id="5" name="内容占位符 4"/>
          <p:cNvPicPr>
            <a:picLocks noGrp="1" noChangeAspect="1"/>
          </p:cNvPicPr>
          <p:nvPr>
            <p:ph idx="1"/>
          </p:nvPr>
        </p:nvPicPr>
        <p:blipFill>
          <a:blip r:embed="rId1"/>
          <a:stretch>
            <a:fillRect/>
          </a:stretch>
        </p:blipFill>
        <p:spPr>
          <a:xfrm>
            <a:off x="1403648" y="1124744"/>
            <a:ext cx="6517690" cy="3024336"/>
          </a:xfrm>
        </p:spPr>
      </p:pic>
      <p:sp>
        <p:nvSpPr>
          <p:cNvPr id="6" name="文本框 5"/>
          <p:cNvSpPr txBox="1"/>
          <p:nvPr/>
        </p:nvSpPr>
        <p:spPr>
          <a:xfrm>
            <a:off x="611560" y="4437112"/>
            <a:ext cx="7992888" cy="1323439"/>
          </a:xfrm>
          <a:prstGeom prst="rect">
            <a:avLst/>
          </a:prstGeom>
          <a:noFill/>
        </p:spPr>
        <p:txBody>
          <a:bodyPr wrap="square" rtlCol="0">
            <a:spAutoFit/>
          </a:bodyPr>
          <a:lstStyle/>
          <a:p>
            <a:pPr algn="just"/>
            <a:r>
              <a:rPr lang="en-US" altLang="zh-CN" dirty="0"/>
              <a:t>        </a:t>
            </a:r>
            <a:r>
              <a:rPr lang="en-US" altLang="zh-CN" sz="2000" dirty="0">
                <a:latin typeface="Times New Roman" panose="02020603050405020304" pitchFamily="18" charset="0"/>
                <a:cs typeface="Times New Roman" panose="02020603050405020304" pitchFamily="18" charset="0"/>
              </a:rPr>
              <a:t>The model generates target region recommendations through </a:t>
            </a:r>
            <a:r>
              <a:rPr lang="en-US" altLang="zh-CN" sz="2000" b="1" dirty="0">
                <a:latin typeface="Times New Roman" panose="02020603050405020304" pitchFamily="18" charset="0"/>
                <a:cs typeface="Times New Roman" panose="02020603050405020304" pitchFamily="18" charset="0"/>
              </a:rPr>
              <a:t>RPN</a:t>
            </a:r>
            <a:r>
              <a:rPr lang="en-US" altLang="zh-CN" sz="2000" dirty="0">
                <a:latin typeface="Times New Roman" panose="02020603050405020304" pitchFamily="18" charset="0"/>
                <a:cs typeface="Times New Roman" panose="02020603050405020304" pitchFamily="18" charset="0"/>
              </a:rPr>
              <a:t>, uses </a:t>
            </a:r>
            <a:r>
              <a:rPr lang="en-US" altLang="zh-CN" sz="2000" b="1" dirty="0">
                <a:latin typeface="Times New Roman" panose="02020603050405020304" pitchFamily="18" charset="0"/>
                <a:cs typeface="Times New Roman" panose="02020603050405020304" pitchFamily="18" charset="0"/>
              </a:rPr>
              <a:t>pool layer (pool) </a:t>
            </a:r>
            <a:r>
              <a:rPr lang="en-US" altLang="zh-CN" sz="2000" dirty="0">
                <a:latin typeface="Times New Roman" panose="02020603050405020304" pitchFamily="18" charset="0"/>
                <a:cs typeface="Times New Roman" panose="02020603050405020304" pitchFamily="18" charset="0"/>
              </a:rPr>
              <a:t>to process features, then transforms and transmits features through </a:t>
            </a:r>
            <a:r>
              <a:rPr lang="en-US" altLang="zh-CN" sz="2000" b="1" dirty="0">
                <a:latin typeface="Times New Roman" panose="02020603050405020304" pitchFamily="18" charset="0"/>
                <a:cs typeface="Times New Roman" panose="02020603050405020304" pitchFamily="18" charset="0"/>
              </a:rPr>
              <a:t>intermediate modules (M1,M2,M3)</a:t>
            </a:r>
            <a:r>
              <a:rPr lang="en-US" altLang="zh-CN" sz="2000"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and finally gives the results of target detection or related tasks by </a:t>
            </a:r>
            <a:r>
              <a:rPr lang="en-US" altLang="zh-CN" sz="2000" b="1" dirty="0">
                <a:latin typeface="Times New Roman" panose="02020603050405020304" pitchFamily="18" charset="0"/>
                <a:cs typeface="Times New Roman" panose="02020603050405020304" pitchFamily="18" charset="0"/>
              </a:rPr>
              <a:t>output modules (B1,B2,B3)</a:t>
            </a:r>
            <a:r>
              <a:rPr lang="en-US" altLang="zh-CN" sz="2000"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55" y="404664"/>
            <a:ext cx="4680520" cy="576064"/>
          </a:xfrm>
        </p:spPr>
        <p:txBody>
          <a:bodyPr>
            <a:normAutofit fontScale="90000"/>
          </a:bodyPr>
          <a:lstStyle/>
          <a:p>
            <a:r>
              <a:rPr lang="en-US" altLang="zh-CN" sz="2400" dirty="0">
                <a:latin typeface="Times New Roman" panose="02020603050405020304" pitchFamily="18" charset="0"/>
                <a:cs typeface="Times New Roman" panose="02020603050405020304" pitchFamily="18" charset="0"/>
              </a:rPr>
              <a:t>Description of competition 1’s model</a:t>
            </a:r>
            <a:endParaRPr lang="en-US" altLang="zh-CN" sz="24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23652" y="1124739"/>
            <a:ext cx="7776864" cy="4246245"/>
          </a:xfrm>
          <a:prstGeom prst="rect">
            <a:avLst/>
          </a:prstGeom>
          <a:noFill/>
        </p:spPr>
        <p:txBody>
          <a:bodyPr wrap="square" rtlCol="0">
            <a:spAutoFit/>
          </a:bodyPr>
          <a:lstStyle/>
          <a:p>
            <a:pPr algn="just">
              <a:lnSpc>
                <a:spcPct val="150000"/>
              </a:lnSpc>
            </a:pPr>
            <a:r>
              <a:rPr lang="en-US" altLang="zh-CN" b="1"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Firstly, the image is loaded and preprocessed, the data file is read, and the width and height of the image are obtained by using </a:t>
            </a:r>
            <a:r>
              <a:rPr lang="en-US" altLang="zh-CN" b="1" dirty="0">
                <a:latin typeface="Times New Roman" panose="02020603050405020304" pitchFamily="18" charset="0"/>
                <a:cs typeface="Times New Roman" panose="02020603050405020304" pitchFamily="18" charset="0"/>
              </a:rPr>
              <a:t>PIL (Pillow)</a:t>
            </a:r>
            <a:r>
              <a:rPr lang="en-US" altLang="zh-CN" dirty="0">
                <a:latin typeface="Times New Roman" panose="02020603050405020304" pitchFamily="18" charset="0"/>
                <a:cs typeface="Times New Roman" panose="02020603050405020304" pitchFamily="18" charset="0"/>
              </a:rPr>
              <a:t> library to open the image. And set some algorithms for controlling target detection. For example: leave extra space for the detection box, prevent cutting the target, and split the number of points in the area and so on.</a:t>
            </a:r>
            <a:endParaRPr lang="en-US" altLang="zh-CN" dirty="0">
              <a:latin typeface="Times New Roman" panose="02020603050405020304" pitchFamily="18" charset="0"/>
              <a:cs typeface="Times New Roman" panose="02020603050405020304" pitchFamily="18" charset="0"/>
            </a:endParaRPr>
          </a:p>
          <a:p>
            <a:pPr algn="just">
              <a:lnSpc>
                <a:spcPct val="150000"/>
              </a:lnSpc>
            </a:pPr>
            <a:endParaRPr lang="en-US" altLang="zh-CN" dirty="0">
              <a:latin typeface="Times New Roman" panose="02020603050405020304" pitchFamily="18" charset="0"/>
              <a:cs typeface="Times New Roman" panose="02020603050405020304" pitchFamily="18" charset="0"/>
            </a:endParaRPr>
          </a:p>
          <a:p>
            <a:pPr algn="just">
              <a:lnSpc>
                <a:spcPct val="150000"/>
              </a:lnSpc>
            </a:pPr>
            <a:r>
              <a:rPr lang="en-US" altLang="zh-CN" b="1"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Using </a:t>
            </a:r>
            <a:r>
              <a:rPr lang="en-US" altLang="zh-CN" b="1" dirty="0">
                <a:latin typeface="Times New Roman" panose="02020603050405020304" pitchFamily="18" charset="0"/>
                <a:cs typeface="Times New Roman" panose="02020603050405020304" pitchFamily="18" charset="0"/>
              </a:rPr>
              <a:t>PyTorch</a:t>
            </a:r>
            <a:r>
              <a:rPr lang="en-US" altLang="zh-CN" dirty="0">
                <a:latin typeface="Times New Roman" panose="02020603050405020304" pitchFamily="18" charset="0"/>
                <a:cs typeface="Times New Roman" panose="02020603050405020304" pitchFamily="18" charset="0"/>
              </a:rPr>
              <a:t> to load the pre-trained model and optimize the model size by removing the optimizer parameters is suitable for efficient deployment in the inference phase.</a:t>
            </a:r>
            <a:endParaRPr lang="en-US" altLang="zh-CN" dirty="0">
              <a:latin typeface="Times New Roman" panose="02020603050405020304" pitchFamily="18" charset="0"/>
              <a:cs typeface="Times New Roman" panose="02020603050405020304" pitchFamily="18" charset="0"/>
            </a:endParaRPr>
          </a:p>
          <a:p>
            <a:pPr algn="just">
              <a:lnSpc>
                <a:spcPct val="150000"/>
              </a:lnSpc>
            </a:pP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705" y="404495"/>
            <a:ext cx="6908800" cy="575945"/>
          </a:xfrm>
        </p:spPr>
        <p:txBody>
          <a:bodyPr>
            <a:normAutofit/>
          </a:bodyPr>
          <a:lstStyle/>
          <a:p>
            <a:r>
              <a:rPr lang="en-US" altLang="zh-CN" sz="2400" dirty="0">
                <a:latin typeface="Times New Roman" panose="02020603050405020304" pitchFamily="18" charset="0"/>
                <a:cs typeface="Times New Roman" panose="02020603050405020304" pitchFamily="18" charset="0"/>
                <a:sym typeface="+mn-ea"/>
              </a:rPr>
              <a:t>Description of competition 1’s model</a:t>
            </a:r>
            <a:endParaRPr lang="zh-CN" altLang="en-US" sz="24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539552" y="1484784"/>
            <a:ext cx="7776864" cy="4661535"/>
          </a:xfrm>
          <a:prstGeom prst="rect">
            <a:avLst/>
          </a:prstGeom>
          <a:noFill/>
        </p:spPr>
        <p:txBody>
          <a:bodyPr wrap="square" rtlCol="0">
            <a:spAutoFit/>
          </a:bodyPr>
          <a:lstStyle/>
          <a:p>
            <a:pPr algn="just">
              <a:lnSpc>
                <a:spcPct val="150000"/>
              </a:lnSpc>
            </a:pPr>
            <a:r>
              <a:rPr lang="en-US" altLang="zh-CN" b="1" dirty="0">
                <a:latin typeface="Times New Roman" panose="02020603050405020304" pitchFamily="18" charset="0"/>
                <a:cs typeface="Times New Roman" panose="02020603050405020304" pitchFamily="18" charset="0"/>
                <a:sym typeface="+mn-ea"/>
              </a:rPr>
              <a:t>3.</a:t>
            </a:r>
            <a:r>
              <a:rPr lang="en-US" altLang="zh-CN" dirty="0">
                <a:latin typeface="Times New Roman" panose="02020603050405020304" pitchFamily="18" charset="0"/>
                <a:cs typeface="Times New Roman" panose="02020603050405020304" pitchFamily="18" charset="0"/>
                <a:sym typeface="+mn-ea"/>
              </a:rPr>
              <a:t>Load the model configuration file with the </a:t>
            </a:r>
            <a:r>
              <a:rPr lang="en-US" altLang="zh-CN" b="1" dirty="0">
                <a:latin typeface="Times New Roman" panose="02020603050405020304" pitchFamily="18" charset="0"/>
                <a:cs typeface="Times New Roman" panose="02020603050405020304" pitchFamily="18" charset="0"/>
                <a:sym typeface="+mn-ea"/>
              </a:rPr>
              <a:t>MMDetection</a:t>
            </a:r>
            <a:r>
              <a:rPr lang="en-US" altLang="zh-CN" dirty="0">
                <a:latin typeface="Times New Roman" panose="02020603050405020304" pitchFamily="18" charset="0"/>
                <a:cs typeface="Times New Roman" panose="02020603050405020304" pitchFamily="18" charset="0"/>
                <a:sym typeface="+mn-ea"/>
              </a:rPr>
              <a:t> framework, load the </a:t>
            </a:r>
            <a:r>
              <a:rPr lang="en-US" altLang="zh-CN" b="1" dirty="0">
                <a:latin typeface="Times New Roman" panose="02020603050405020304" pitchFamily="18" charset="0"/>
                <a:cs typeface="Times New Roman" panose="02020603050405020304" pitchFamily="18" charset="0"/>
                <a:sym typeface="+mn-ea"/>
              </a:rPr>
              <a:t>Detectron2</a:t>
            </a:r>
            <a:r>
              <a:rPr lang="en-US" altLang="zh-CN" dirty="0">
                <a:latin typeface="Times New Roman" panose="02020603050405020304" pitchFamily="18" charset="0"/>
                <a:cs typeface="Times New Roman" panose="02020603050405020304" pitchFamily="18" charset="0"/>
                <a:sym typeface="+mn-ea"/>
              </a:rPr>
              <a:t> pre-training model, and perform instance segmentation. </a:t>
            </a:r>
            <a:r>
              <a:rPr lang="en-US" altLang="zh-CN" b="1" dirty="0">
                <a:latin typeface="Times New Roman" panose="02020603050405020304" pitchFamily="18" charset="0"/>
                <a:cs typeface="Times New Roman" panose="02020603050405020304" pitchFamily="18" charset="0"/>
                <a:sym typeface="+mn-ea"/>
              </a:rPr>
              <a:t>HybridTaskCascade</a:t>
            </a:r>
            <a:r>
              <a:rPr lang="en-US" altLang="zh-CN" dirty="0">
                <a:latin typeface="Times New Roman" panose="02020603050405020304" pitchFamily="18" charset="0"/>
                <a:cs typeface="Times New Roman" panose="02020603050405020304" pitchFamily="18" charset="0"/>
                <a:sym typeface="+mn-ea"/>
              </a:rPr>
              <a:t> model is used to model the image, and the bounding box and segmentation results are obtained. The output results of the model are post-processed, and the final detection and segmentation results are displayed. Run object detection and generate JSON prediction files for evaluation and submission.</a:t>
            </a:r>
            <a:endParaRPr lang="en-US" altLang="zh-CN" dirty="0">
              <a:latin typeface="Times New Roman" panose="02020603050405020304" pitchFamily="18" charset="0"/>
              <a:cs typeface="Times New Roman" panose="02020603050405020304" pitchFamily="18" charset="0"/>
            </a:endParaRPr>
          </a:p>
          <a:p>
            <a:pPr algn="just">
              <a:lnSpc>
                <a:spcPct val="150000"/>
              </a:lnSpc>
            </a:pPr>
            <a:endParaRPr lang="en-US" altLang="zh-CN" dirty="0">
              <a:latin typeface="Times New Roman" panose="02020603050405020304" pitchFamily="18" charset="0"/>
              <a:cs typeface="Times New Roman" panose="02020603050405020304" pitchFamily="18" charset="0"/>
              <a:sym typeface="+mn-ea"/>
            </a:endParaRPr>
          </a:p>
          <a:p>
            <a:pPr algn="just">
              <a:lnSpc>
                <a:spcPct val="150000"/>
              </a:lnSpc>
            </a:pPr>
            <a:r>
              <a:rPr lang="en-US" altLang="zh-CN" b="1" dirty="0">
                <a:latin typeface="Times New Roman" panose="02020603050405020304" pitchFamily="18" charset="0"/>
                <a:cs typeface="Times New Roman" panose="02020603050405020304" pitchFamily="18" charset="0"/>
                <a:sym typeface="+mn-ea"/>
              </a:rPr>
              <a:t>4.</a:t>
            </a:r>
            <a:r>
              <a:rPr lang="en-US" altLang="zh-CN" dirty="0">
                <a:latin typeface="Times New Roman" panose="02020603050405020304" pitchFamily="18" charset="0"/>
                <a:cs typeface="Times New Roman" panose="02020603050405020304" pitchFamily="18" charset="0"/>
                <a:sym typeface="+mn-ea"/>
              </a:rPr>
              <a:t>Score calculation is mainly based on </a:t>
            </a:r>
            <a:r>
              <a:rPr lang="en-US" altLang="zh-CN" b="1" dirty="0">
                <a:latin typeface="Times New Roman" panose="02020603050405020304" pitchFamily="18" charset="0"/>
                <a:cs typeface="Times New Roman" panose="02020603050405020304" pitchFamily="18" charset="0"/>
                <a:sym typeface="+mn-ea"/>
              </a:rPr>
              <a:t>IoU(Intersection over Union)</a:t>
            </a:r>
            <a:r>
              <a:rPr lang="en-US" altLang="zh-CN" dirty="0">
                <a:latin typeface="Times New Roman" panose="02020603050405020304" pitchFamily="18" charset="0"/>
                <a:cs typeface="Times New Roman" panose="02020603050405020304" pitchFamily="18" charset="0"/>
                <a:sym typeface="+mn-ea"/>
              </a:rPr>
              <a:t>, </a:t>
            </a:r>
            <a:r>
              <a:rPr lang="en-US" altLang="zh-CN" b="1" dirty="0">
                <a:latin typeface="Times New Roman" panose="02020603050405020304" pitchFamily="18" charset="0"/>
                <a:cs typeface="Times New Roman" panose="02020603050405020304" pitchFamily="18" charset="0"/>
                <a:sym typeface="+mn-ea"/>
              </a:rPr>
              <a:t>Precision-Recall curve</a:t>
            </a:r>
            <a:r>
              <a:rPr lang="en-US" altLang="zh-CN" dirty="0">
                <a:latin typeface="Times New Roman" panose="02020603050405020304" pitchFamily="18" charset="0"/>
                <a:cs typeface="Times New Roman" panose="02020603050405020304" pitchFamily="18" charset="0"/>
                <a:sym typeface="+mn-ea"/>
              </a:rPr>
              <a:t>, </a:t>
            </a:r>
            <a:r>
              <a:rPr lang="en-US" altLang="zh-CN" b="1" dirty="0">
                <a:latin typeface="Times New Roman" panose="02020603050405020304" pitchFamily="18" charset="0"/>
                <a:cs typeface="Times New Roman" panose="02020603050405020304" pitchFamily="18" charset="0"/>
                <a:sym typeface="+mn-ea"/>
              </a:rPr>
              <a:t>mAP</a:t>
            </a:r>
            <a:r>
              <a:rPr lang="en-US" altLang="zh-CN" dirty="0">
                <a:latin typeface="Times New Roman" panose="02020603050405020304" pitchFamily="18" charset="0"/>
                <a:cs typeface="Times New Roman" panose="02020603050405020304" pitchFamily="18" charset="0"/>
                <a:sym typeface="+mn-ea"/>
              </a:rPr>
              <a:t> and </a:t>
            </a:r>
            <a:r>
              <a:rPr lang="en-US" altLang="zh-CN" b="1" dirty="0">
                <a:latin typeface="Times New Roman" panose="02020603050405020304" pitchFamily="18" charset="0"/>
                <a:cs typeface="Times New Roman" panose="02020603050405020304" pitchFamily="18" charset="0"/>
                <a:sym typeface="+mn-ea"/>
              </a:rPr>
              <a:t>AR</a:t>
            </a:r>
            <a:r>
              <a:rPr lang="en-US" altLang="zh-CN" dirty="0">
                <a:latin typeface="Times New Roman" panose="02020603050405020304" pitchFamily="18" charset="0"/>
                <a:cs typeface="Times New Roman" panose="02020603050405020304" pitchFamily="18" charset="0"/>
                <a:sym typeface="+mn-ea"/>
              </a:rPr>
              <a:t>. </a:t>
            </a:r>
            <a:r>
              <a:rPr lang="en-US" altLang="zh-CN" b="1" dirty="0">
                <a:latin typeface="Times New Roman" panose="02020603050405020304" pitchFamily="18" charset="0"/>
                <a:cs typeface="Times New Roman" panose="02020603050405020304" pitchFamily="18" charset="0"/>
                <a:sym typeface="+mn-ea"/>
              </a:rPr>
              <a:t>NumPy</a:t>
            </a:r>
            <a:r>
              <a:rPr lang="en-US" altLang="zh-CN" dirty="0">
                <a:latin typeface="Times New Roman" panose="02020603050405020304" pitchFamily="18" charset="0"/>
                <a:cs typeface="Times New Roman" panose="02020603050405020304" pitchFamily="18" charset="0"/>
                <a:sym typeface="+mn-ea"/>
              </a:rPr>
              <a:t> is used to calculate </a:t>
            </a:r>
            <a:r>
              <a:rPr lang="en-US" altLang="zh-CN" b="1" dirty="0">
                <a:latin typeface="Times New Roman" panose="02020603050405020304" pitchFamily="18" charset="0"/>
                <a:cs typeface="Times New Roman" panose="02020603050405020304" pitchFamily="18" charset="0"/>
                <a:sym typeface="+mn-ea"/>
              </a:rPr>
              <a:t>IoU</a:t>
            </a:r>
            <a:r>
              <a:rPr lang="en-US" altLang="zh-CN" dirty="0">
                <a:latin typeface="Times New Roman" panose="02020603050405020304" pitchFamily="18" charset="0"/>
                <a:cs typeface="Times New Roman" panose="02020603050405020304" pitchFamily="18" charset="0"/>
                <a:sym typeface="+mn-ea"/>
              </a:rPr>
              <a:t>, </a:t>
            </a:r>
            <a:r>
              <a:rPr lang="en-US" altLang="zh-CN" b="1" dirty="0">
                <a:latin typeface="Times New Roman" panose="02020603050405020304" pitchFamily="18" charset="0"/>
                <a:cs typeface="Times New Roman" panose="02020603050405020304" pitchFamily="18" charset="0"/>
                <a:sym typeface="+mn-ea"/>
              </a:rPr>
              <a:t>Scikit-learn</a:t>
            </a:r>
            <a:r>
              <a:rPr lang="en-US" altLang="zh-CN" dirty="0">
                <a:latin typeface="Times New Roman" panose="02020603050405020304" pitchFamily="18" charset="0"/>
                <a:cs typeface="Times New Roman" panose="02020603050405020304" pitchFamily="18" charset="0"/>
                <a:sym typeface="+mn-ea"/>
              </a:rPr>
              <a:t> is used to calculate </a:t>
            </a:r>
            <a:r>
              <a:rPr lang="en-US" altLang="zh-CN" b="1" dirty="0">
                <a:latin typeface="Times New Roman" panose="02020603050405020304" pitchFamily="18" charset="0"/>
                <a:cs typeface="Times New Roman" panose="02020603050405020304" pitchFamily="18" charset="0"/>
                <a:sym typeface="+mn-ea"/>
              </a:rPr>
              <a:t>AP (AUC)</a:t>
            </a:r>
            <a:r>
              <a:rPr lang="en-US" altLang="zh-CN" dirty="0">
                <a:latin typeface="Times New Roman" panose="02020603050405020304" pitchFamily="18" charset="0"/>
                <a:cs typeface="Times New Roman" panose="02020603050405020304" pitchFamily="18" charset="0"/>
                <a:sym typeface="+mn-ea"/>
              </a:rPr>
              <a:t>, and finally </a:t>
            </a:r>
            <a:r>
              <a:rPr lang="en-US" altLang="zh-CN" b="1" dirty="0">
                <a:latin typeface="Times New Roman" panose="02020603050405020304" pitchFamily="18" charset="0"/>
                <a:cs typeface="Times New Roman" panose="02020603050405020304" pitchFamily="18" charset="0"/>
                <a:sym typeface="+mn-ea"/>
              </a:rPr>
              <a:t>mAP and AR</a:t>
            </a:r>
            <a:r>
              <a:rPr lang="en-US" altLang="zh-CN" dirty="0">
                <a:latin typeface="Times New Roman" panose="02020603050405020304" pitchFamily="18" charset="0"/>
                <a:cs typeface="Times New Roman" panose="02020603050405020304" pitchFamily="18" charset="0"/>
                <a:sym typeface="+mn-ea"/>
              </a:rPr>
              <a:t> evaluation indicators are obtained. Evaluate the accuracy of test results.</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850" y="404495"/>
            <a:ext cx="6104890" cy="575945"/>
          </a:xfrm>
        </p:spPr>
        <p:txBody>
          <a:bodyPr>
            <a:normAutofit/>
          </a:bodyPr>
          <a:lstStyle/>
          <a:p>
            <a:r>
              <a:rPr lang="en-US" altLang="zh-CN" sz="2665" dirty="0">
                <a:latin typeface="Times New Roman" panose="02020603050405020304" pitchFamily="18" charset="0"/>
                <a:cs typeface="Times New Roman" panose="02020603050405020304" pitchFamily="18" charset="0"/>
                <a:sym typeface="+mn-ea"/>
              </a:rPr>
              <a:t>Description of competition 2</a:t>
            </a:r>
            <a:endParaRPr lang="zh-CN" altLang="en-US" sz="2665"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719572" y="1988840"/>
            <a:ext cx="7704856" cy="2677656"/>
          </a:xfrm>
          <a:prstGeom prst="rect">
            <a:avLst/>
          </a:prstGeom>
          <a:noFill/>
        </p:spPr>
        <p:txBody>
          <a:bodyPr wrap="square" rtlCol="0">
            <a:spAutoFit/>
          </a:bodyPr>
          <a:lstStyle/>
          <a:p>
            <a:pPr marL="0" marR="0" lvl="0" indent="457200" algn="just"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The overall goal is to build a target detection model based on Cascade R-CNN, using Swin Transformer as the backbone network, combining feature pyramid network (FPN) for multi-scale feature fusion, and then generating candidate boxes through region proposal network (RPN), and finally using multi-stage detection head (Hybrid Task Cascade RoI Head) for target detection.</a:t>
            </a:r>
            <a:endPar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404664"/>
            <a:ext cx="5112568" cy="576064"/>
          </a:xfrm>
        </p:spPr>
        <p:txBody>
          <a:bodyPr>
            <a:noAutofit/>
          </a:bodyPr>
          <a:lstStyle/>
          <a:p>
            <a:r>
              <a:rPr lang="en-US" altLang="zh-CN" sz="2400" dirty="0">
                <a:latin typeface="Times New Roman" panose="02020603050405020304" pitchFamily="18" charset="0"/>
                <a:cs typeface="Times New Roman" panose="02020603050405020304" pitchFamily="18" charset="0"/>
                <a:sym typeface="+mn-ea"/>
              </a:rPr>
              <a:t>Description of competition 2’s model</a:t>
            </a:r>
            <a:endParaRPr lang="zh-CN" altLang="en-US" sz="2400" dirty="0"/>
          </a:p>
        </p:txBody>
      </p:sp>
      <p:pic>
        <p:nvPicPr>
          <p:cNvPr id="5" name="内容占位符 4"/>
          <p:cNvPicPr>
            <a:picLocks noGrp="1" noChangeAspect="1"/>
          </p:cNvPicPr>
          <p:nvPr>
            <p:ph idx="1"/>
          </p:nvPr>
        </p:nvPicPr>
        <p:blipFill>
          <a:blip r:embed="rId1"/>
          <a:srcRect t="2513" b="9555"/>
          <a:stretch>
            <a:fillRect/>
          </a:stretch>
        </p:blipFill>
        <p:spPr>
          <a:xfrm>
            <a:off x="1655675" y="1144208"/>
            <a:ext cx="6019928" cy="2932864"/>
          </a:xfrm>
        </p:spPr>
      </p:pic>
      <p:sp>
        <p:nvSpPr>
          <p:cNvPr id="6" name="文本框 5"/>
          <p:cNvSpPr txBox="1"/>
          <p:nvPr/>
        </p:nvSpPr>
        <p:spPr>
          <a:xfrm>
            <a:off x="539552" y="4206930"/>
            <a:ext cx="7776864" cy="2246769"/>
          </a:xfrm>
          <a:prstGeom prst="rect">
            <a:avLst/>
          </a:prstGeom>
          <a:noFill/>
        </p:spPr>
        <p:txBody>
          <a:bodyPr wrap="square" rtlCol="0">
            <a:spAutoFit/>
          </a:bodyPr>
          <a:lstStyle/>
          <a:p>
            <a:pPr algn="just"/>
            <a:r>
              <a:rPr lang="en-US" altLang="zh-CN" sz="1400" b="1" dirty="0">
                <a:latin typeface="Times New Roman" panose="02020603050405020304" pitchFamily="18" charset="0"/>
                <a:cs typeface="Times New Roman" panose="02020603050405020304" pitchFamily="18" charset="0"/>
              </a:rPr>
              <a:t>Feature extraction</a:t>
            </a:r>
            <a:r>
              <a:rPr lang="en-US" altLang="zh-CN" sz="1400" dirty="0">
                <a:latin typeface="Times New Roman" panose="02020603050405020304" pitchFamily="18" charset="0"/>
                <a:cs typeface="Times New Roman" panose="02020603050405020304" pitchFamily="18" charset="0"/>
              </a:rPr>
              <a:t>: The input image first goes through a series of</a:t>
            </a:r>
            <a:r>
              <a:rPr lang="en-US" altLang="zh-CN" sz="1400" b="1" dirty="0">
                <a:latin typeface="Times New Roman" panose="02020603050405020304" pitchFamily="18" charset="0"/>
                <a:cs typeface="Times New Roman" panose="02020603050405020304" pitchFamily="18" charset="0"/>
              </a:rPr>
              <a:t> conv </a:t>
            </a:r>
            <a:r>
              <a:rPr lang="en-US" altLang="zh-CN" sz="1400" dirty="0">
                <a:latin typeface="Times New Roman" panose="02020603050405020304" pitchFamily="18" charset="0"/>
                <a:cs typeface="Times New Roman" panose="02020603050405020304" pitchFamily="18" charset="0"/>
              </a:rPr>
              <a:t>operations to generate </a:t>
            </a:r>
            <a:r>
              <a:rPr lang="en-US" altLang="zh-CN" sz="1400" b="1" dirty="0">
                <a:latin typeface="Times New Roman" panose="02020603050405020304" pitchFamily="18" charset="0"/>
                <a:cs typeface="Times New Roman" panose="02020603050405020304" pitchFamily="18" charset="0"/>
              </a:rPr>
              <a:t>feature maps</a:t>
            </a:r>
            <a:r>
              <a:rPr lang="en-US" altLang="zh-CN" sz="1400" dirty="0">
                <a:latin typeface="Times New Roman" panose="02020603050405020304" pitchFamily="18" charset="0"/>
                <a:cs typeface="Times New Roman" panose="02020603050405020304" pitchFamily="18" charset="0"/>
              </a:rPr>
              <a:t>. This step is to extract various features in the image.</a:t>
            </a:r>
            <a:endParaRPr lang="en-US" altLang="zh-CN" sz="1400" dirty="0">
              <a:latin typeface="Times New Roman" panose="02020603050405020304" pitchFamily="18" charset="0"/>
              <a:cs typeface="Times New Roman" panose="02020603050405020304" pitchFamily="18" charset="0"/>
            </a:endParaRPr>
          </a:p>
          <a:p>
            <a:pPr algn="just"/>
            <a:r>
              <a:rPr lang="en-US" altLang="zh-CN" sz="1400" b="1" dirty="0">
                <a:latin typeface="Times New Roman" panose="02020603050405020304" pitchFamily="18" charset="0"/>
                <a:cs typeface="Times New Roman" panose="02020603050405020304" pitchFamily="18" charset="0"/>
              </a:rPr>
              <a:t>Regional Suggestion Network (RPN) </a:t>
            </a:r>
            <a:r>
              <a:rPr lang="en-US" altLang="zh-CN" sz="1400" dirty="0">
                <a:latin typeface="Times New Roman" panose="02020603050405020304" pitchFamily="18" charset="0"/>
                <a:cs typeface="Times New Roman" panose="02020603050405020304" pitchFamily="18" charset="0"/>
              </a:rPr>
              <a:t>: Based on the generated feature map, </a:t>
            </a:r>
            <a:r>
              <a:rPr lang="en-US" altLang="zh-CN" sz="1400" b="1" dirty="0">
                <a:latin typeface="Times New Roman" panose="02020603050405020304" pitchFamily="18" charset="0"/>
                <a:cs typeface="Times New Roman" panose="02020603050405020304" pitchFamily="18" charset="0"/>
              </a:rPr>
              <a:t>the RPN generates a series of RoIs (Regions of Interest)</a:t>
            </a:r>
            <a:r>
              <a:rPr lang="en-US" altLang="zh-CN" sz="1400" dirty="0">
                <a:latin typeface="Times New Roman" panose="02020603050405020304" pitchFamily="18" charset="0"/>
                <a:cs typeface="Times New Roman" panose="02020603050405020304" pitchFamily="18" charset="0"/>
              </a:rPr>
              <a:t> that may contain targets, which are candidate regions where the model thinks objects may exist.</a:t>
            </a:r>
            <a:endParaRPr lang="en-US" altLang="zh-CN" sz="1400" dirty="0">
              <a:latin typeface="Times New Roman" panose="02020603050405020304" pitchFamily="18" charset="0"/>
              <a:cs typeface="Times New Roman" panose="02020603050405020304" pitchFamily="18" charset="0"/>
            </a:endParaRPr>
          </a:p>
          <a:p>
            <a:pPr algn="just"/>
            <a:r>
              <a:rPr lang="en-US" altLang="zh-CN" sz="1400" b="1" dirty="0">
                <a:latin typeface="Times New Roman" panose="02020603050405020304" pitchFamily="18" charset="0"/>
                <a:cs typeface="Times New Roman" panose="02020603050405020304" pitchFamily="18" charset="0"/>
              </a:rPr>
              <a:t>RoI Pooling</a:t>
            </a:r>
            <a:r>
              <a:rPr lang="en-US" altLang="zh-CN" sz="1400" dirty="0">
                <a:latin typeface="Times New Roman" panose="02020603050405020304" pitchFamily="18" charset="0"/>
                <a:cs typeface="Times New Roman" panose="02020603050405020304" pitchFamily="18" charset="0"/>
              </a:rPr>
              <a:t>: Map the RoIs generated by the RPN to the feature map, and convert the RoI feature map of different sizes to a fixed size through the RoI Pooling operation for subsequent processing.</a:t>
            </a:r>
            <a:endParaRPr lang="en-US" altLang="zh-CN" sz="1400" dirty="0">
              <a:latin typeface="Times New Roman" panose="02020603050405020304" pitchFamily="18" charset="0"/>
              <a:cs typeface="Times New Roman" panose="02020603050405020304" pitchFamily="18" charset="0"/>
            </a:endParaRPr>
          </a:p>
          <a:p>
            <a:pPr algn="just"/>
            <a:r>
              <a:rPr lang="en-US" altLang="zh-CN" sz="1400" b="1" dirty="0">
                <a:latin typeface="Times New Roman" panose="02020603050405020304" pitchFamily="18" charset="0"/>
                <a:cs typeface="Times New Roman" panose="02020603050405020304" pitchFamily="18" charset="0"/>
              </a:rPr>
              <a:t>Classification and regression</a:t>
            </a:r>
            <a:r>
              <a:rPr lang="en-US" altLang="zh-CN" sz="1400" dirty="0">
                <a:latin typeface="Times New Roman" panose="02020603050405020304" pitchFamily="18" charset="0"/>
                <a:cs typeface="Times New Roman" panose="02020603050405020304" pitchFamily="18" charset="0"/>
              </a:rPr>
              <a:t>: Categorize each RoI, determine the category of objects it contains, and perform bounding box regression to precisely adjust the position and size of the target object. Finally, the final test result is determined by voting and other means.</a:t>
            </a:r>
            <a:endParaRPr lang="zh-CN" alt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705" y="404495"/>
            <a:ext cx="5370830" cy="575945"/>
          </a:xfrm>
        </p:spPr>
        <p:txBody>
          <a:bodyPr>
            <a:normAutofit/>
          </a:bodyPr>
          <a:lstStyle/>
          <a:p>
            <a:r>
              <a:rPr lang="en-US" altLang="zh-CN" sz="2400" dirty="0">
                <a:latin typeface="Times New Roman" panose="02020603050405020304" pitchFamily="18" charset="0"/>
                <a:cs typeface="Times New Roman" panose="02020603050405020304" pitchFamily="18" charset="0"/>
                <a:sym typeface="+mn-ea"/>
              </a:rPr>
              <a:t>Description of competition 2’s model</a:t>
            </a:r>
            <a:endParaRPr lang="zh-CN" altLang="en-US" sz="2400" dirty="0">
              <a:latin typeface="Times New Roman" panose="02020603050405020304" pitchFamily="18" charset="0"/>
              <a:cs typeface="Times New Roman" panose="02020603050405020304" pitchFamily="18" charset="0"/>
            </a:endParaRPr>
          </a:p>
        </p:txBody>
      </p:sp>
      <p:sp>
        <p:nvSpPr>
          <p:cNvPr id="3" name="矩形 2"/>
          <p:cNvSpPr/>
          <p:nvPr/>
        </p:nvSpPr>
        <p:spPr>
          <a:xfrm>
            <a:off x="467544" y="1628800"/>
            <a:ext cx="1872208" cy="12241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Input Image</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箭头: 右 3"/>
          <p:cNvSpPr/>
          <p:nvPr/>
        </p:nvSpPr>
        <p:spPr>
          <a:xfrm>
            <a:off x="2339752" y="2078850"/>
            <a:ext cx="1152128" cy="3240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矩形 4"/>
          <p:cNvSpPr/>
          <p:nvPr/>
        </p:nvSpPr>
        <p:spPr>
          <a:xfrm>
            <a:off x="3491880" y="1700808"/>
            <a:ext cx="1872208" cy="12241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Swin Transformer</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箭头: 右 5"/>
          <p:cNvSpPr/>
          <p:nvPr/>
        </p:nvSpPr>
        <p:spPr>
          <a:xfrm>
            <a:off x="5364088" y="2078850"/>
            <a:ext cx="1152128"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p:nvSpPr>
        <p:spPr>
          <a:xfrm>
            <a:off x="6516216" y="1700808"/>
            <a:ext cx="1872208" cy="12241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Feature Pyramid Network(FPN)</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箭头: 下 7"/>
          <p:cNvSpPr/>
          <p:nvPr/>
        </p:nvSpPr>
        <p:spPr>
          <a:xfrm>
            <a:off x="7380312" y="2924944"/>
            <a:ext cx="360040" cy="1080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矩形 8"/>
          <p:cNvSpPr/>
          <p:nvPr/>
        </p:nvSpPr>
        <p:spPr>
          <a:xfrm>
            <a:off x="6516216" y="4013902"/>
            <a:ext cx="1872208" cy="12241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Region Proposal Network(RPN)</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箭头: 右 10"/>
          <p:cNvSpPr/>
          <p:nvPr/>
        </p:nvSpPr>
        <p:spPr>
          <a:xfrm rot="10800000">
            <a:off x="5334327" y="4365105"/>
            <a:ext cx="1152128"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3491880" y="3933057"/>
            <a:ext cx="1872208" cy="12241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HybridTaskCascadeRoIHead</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箭头: 右 12"/>
          <p:cNvSpPr/>
          <p:nvPr/>
        </p:nvSpPr>
        <p:spPr>
          <a:xfrm rot="10800000">
            <a:off x="2339752" y="4364853"/>
            <a:ext cx="1152128"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矩形 13"/>
          <p:cNvSpPr/>
          <p:nvPr/>
        </p:nvSpPr>
        <p:spPr>
          <a:xfrm>
            <a:off x="461736" y="3976051"/>
            <a:ext cx="1872208" cy="122413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Output (Detection Boxes) and Classes</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705" y="404495"/>
            <a:ext cx="5560695" cy="575945"/>
          </a:xfrm>
        </p:spPr>
        <p:txBody>
          <a:bodyPr>
            <a:normAutofit/>
          </a:bodyPr>
          <a:lstStyle/>
          <a:p>
            <a:r>
              <a:rPr lang="en-US" altLang="zh-CN" sz="2400" dirty="0">
                <a:latin typeface="Times New Roman" panose="02020603050405020304" pitchFamily="18" charset="0"/>
                <a:cs typeface="Times New Roman" panose="02020603050405020304" pitchFamily="18" charset="0"/>
                <a:sym typeface="+mn-ea"/>
              </a:rPr>
              <a:t>Description of competition 2’s model</a:t>
            </a:r>
            <a:endParaRPr lang="zh-CN" altLang="en-US" sz="2400" dirty="0">
              <a:latin typeface="Times New Roman" panose="02020603050405020304" pitchFamily="18" charset="0"/>
              <a:cs typeface="Times New Roman" panose="02020603050405020304" pitchFamily="18" charset="0"/>
            </a:endParaRPr>
          </a:p>
        </p:txBody>
      </p:sp>
      <p:sp>
        <p:nvSpPr>
          <p:cNvPr id="10" name="矩形 9"/>
          <p:cNvSpPr/>
          <p:nvPr/>
        </p:nvSpPr>
        <p:spPr>
          <a:xfrm>
            <a:off x="539552" y="1294894"/>
            <a:ext cx="2592826" cy="461665"/>
          </a:xfrm>
          <a:prstGeom prst="rect">
            <a:avLst/>
          </a:prstGeom>
        </p:spPr>
        <p:txBody>
          <a:bodyPr wrap="none">
            <a:spAutoFit/>
          </a:bodyPr>
          <a:lstStyle/>
          <a:p>
            <a:pPr lvl="0" algn="ctr">
              <a:defRPr/>
            </a:pPr>
            <a:r>
              <a:rPr lang="en-US" altLang="zh-CN" sz="2400" b="1" dirty="0" err="1">
                <a:solidFill>
                  <a:prstClr val="black"/>
                </a:solidFill>
                <a:latin typeface="Times New Roman" panose="02020603050405020304" pitchFamily="18" charset="0"/>
                <a:cs typeface="Times New Roman" panose="02020603050405020304" pitchFamily="18" charset="0"/>
              </a:rPr>
              <a:t>Swin</a:t>
            </a:r>
            <a:r>
              <a:rPr lang="en-US" altLang="zh-CN" sz="2400" b="1" dirty="0">
                <a:solidFill>
                  <a:prstClr val="black"/>
                </a:solidFill>
                <a:latin typeface="Times New Roman" panose="02020603050405020304" pitchFamily="18" charset="0"/>
                <a:cs typeface="Times New Roman" panose="02020603050405020304" pitchFamily="18" charset="0"/>
              </a:rPr>
              <a:t> Transformer</a:t>
            </a:r>
            <a:endParaRPr lang="zh-CN" altLang="en-US" sz="2400" b="1" dirty="0">
              <a:solidFill>
                <a:prstClr val="black"/>
              </a:solidFill>
              <a:latin typeface="Times New Roman" panose="02020603050405020304" pitchFamily="18" charset="0"/>
              <a:cs typeface="Times New Roman" panose="02020603050405020304" pitchFamily="18" charset="0"/>
            </a:endParaRPr>
          </a:p>
        </p:txBody>
      </p:sp>
      <p:sp>
        <p:nvSpPr>
          <p:cNvPr id="16" name="文本框 15"/>
          <p:cNvSpPr txBox="1"/>
          <p:nvPr/>
        </p:nvSpPr>
        <p:spPr>
          <a:xfrm>
            <a:off x="539552" y="1844824"/>
            <a:ext cx="6696744" cy="1200329"/>
          </a:xfrm>
          <a:prstGeom prst="rect">
            <a:avLst/>
          </a:prstGeom>
          <a:noFill/>
        </p:spPr>
        <p:txBody>
          <a:bodyPr wrap="square" rtlCol="0">
            <a:spAutoFit/>
          </a:bodyPr>
          <a:lstStyle/>
          <a:p>
            <a:pPr indent="457200" algn="dist"/>
            <a:r>
              <a:rPr lang="en-US" altLang="zh-CN" dirty="0" err="1">
                <a:latin typeface="Times New Roman" panose="02020603050405020304" pitchFamily="18" charset="0"/>
                <a:cs typeface="Times New Roman" panose="02020603050405020304" pitchFamily="18" charset="0"/>
              </a:rPr>
              <a:t>Swin</a:t>
            </a:r>
            <a:r>
              <a:rPr lang="en-US" altLang="zh-CN" dirty="0">
                <a:latin typeface="Times New Roman" panose="02020603050405020304" pitchFamily="18" charset="0"/>
                <a:cs typeface="Times New Roman" panose="02020603050405020304" pitchFamily="18" charset="0"/>
              </a:rPr>
              <a:t> Transformer is a visual model based on the Transformer architecture. It can effectively capture local and global information when processing image data by introducing a sliding window mechanism, and has good feature extraction capabilities.</a:t>
            </a:r>
            <a:endParaRPr lang="zh-CN" altLang="en-US" dirty="0">
              <a:latin typeface="Times New Roman" panose="02020603050405020304" pitchFamily="18" charset="0"/>
              <a:cs typeface="Times New Roman" panose="02020603050405020304" pitchFamily="18" charset="0"/>
            </a:endParaRPr>
          </a:p>
        </p:txBody>
      </p:sp>
      <p:sp>
        <p:nvSpPr>
          <p:cNvPr id="17" name="矩形 16"/>
          <p:cNvSpPr/>
          <p:nvPr/>
        </p:nvSpPr>
        <p:spPr>
          <a:xfrm>
            <a:off x="539552" y="3539044"/>
            <a:ext cx="3741922" cy="400110"/>
          </a:xfrm>
          <a:prstGeom prst="rect">
            <a:avLst/>
          </a:prstGeom>
        </p:spPr>
        <p:txBody>
          <a:bodyPr wrap="non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Feature Pyramid Network(FPN)</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sp>
        <p:nvSpPr>
          <p:cNvPr id="18" name="文本框 17"/>
          <p:cNvSpPr txBox="1"/>
          <p:nvPr/>
        </p:nvSpPr>
        <p:spPr>
          <a:xfrm>
            <a:off x="539552" y="4155178"/>
            <a:ext cx="6624736" cy="923330"/>
          </a:xfrm>
          <a:prstGeom prst="rect">
            <a:avLst/>
          </a:prstGeom>
          <a:noFill/>
        </p:spPr>
        <p:txBody>
          <a:bodyPr wrap="square" rtlCol="0">
            <a:spAutoFit/>
          </a:bodyPr>
          <a:lstStyle/>
          <a:p>
            <a:pPr indent="457200"/>
            <a:r>
              <a:rPr lang="en-US" altLang="zh-CN" dirty="0">
                <a:latin typeface="Times New Roman" panose="02020603050405020304" pitchFamily="18" charset="0"/>
                <a:cs typeface="Times New Roman" panose="02020603050405020304" pitchFamily="18" charset="0"/>
              </a:rPr>
              <a:t>FPN can fuse feature maps of different scales, so that the model can perform well in detecting objects of different sizes, solving the problem of scale change in object detection.</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705" y="405130"/>
            <a:ext cx="5366385" cy="575945"/>
          </a:xfrm>
        </p:spPr>
        <p:txBody>
          <a:bodyPr>
            <a:normAutofit/>
          </a:bodyPr>
          <a:lstStyle/>
          <a:p>
            <a:r>
              <a:rPr lang="en-US" altLang="zh-CN" sz="2400" dirty="0">
                <a:latin typeface="Times New Roman" panose="02020603050405020304" pitchFamily="18" charset="0"/>
                <a:cs typeface="Times New Roman" panose="02020603050405020304" pitchFamily="18" charset="0"/>
                <a:sym typeface="+mn-ea"/>
              </a:rPr>
              <a:t>Description of competition 2’s model</a:t>
            </a:r>
            <a:endParaRPr lang="zh-CN" altLang="en-US" sz="2400" dirty="0">
              <a:latin typeface="Times New Roman" panose="02020603050405020304" pitchFamily="18" charset="0"/>
              <a:cs typeface="Times New Roman" panose="02020603050405020304" pitchFamily="18" charset="0"/>
            </a:endParaRPr>
          </a:p>
        </p:txBody>
      </p:sp>
      <p:sp>
        <p:nvSpPr>
          <p:cNvPr id="3" name="矩形 2"/>
          <p:cNvSpPr/>
          <p:nvPr/>
        </p:nvSpPr>
        <p:spPr>
          <a:xfrm>
            <a:off x="107504" y="1196752"/>
            <a:ext cx="3700245" cy="400110"/>
          </a:xfrm>
          <a:prstGeom prst="rect">
            <a:avLst/>
          </a:prstGeom>
        </p:spPr>
        <p:txBody>
          <a:bodyPr wrap="non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Region Proposal Network(RPN)</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107504" y="1812886"/>
            <a:ext cx="7056784" cy="1200329"/>
          </a:xfrm>
          <a:prstGeom prst="rect">
            <a:avLst/>
          </a:prstGeom>
          <a:noFill/>
        </p:spPr>
        <p:txBody>
          <a:bodyPr wrap="square" rtlCol="0">
            <a:spAutoFit/>
          </a:bodyPr>
          <a:lstStyle/>
          <a:p>
            <a:pPr indent="457200"/>
            <a:r>
              <a:rPr lang="en-US" altLang="zh-CN" dirty="0">
                <a:latin typeface="Times New Roman" panose="02020603050405020304" pitchFamily="18" charset="0"/>
                <a:cs typeface="Times New Roman" panose="02020603050405020304" pitchFamily="18" charset="0"/>
              </a:rPr>
              <a:t>Generate candidate boxes through the region proposal network (RPN). The main function of RPN is to quickly generate candidate regions that may contain targets in the image, reducing the search space for subsequent detection.</a:t>
            </a:r>
            <a:endParaRPr lang="zh-CN" altLang="en-US" dirty="0">
              <a:latin typeface="Times New Roman" panose="02020603050405020304" pitchFamily="18" charset="0"/>
              <a:cs typeface="Times New Roman" panose="02020603050405020304" pitchFamily="18" charset="0"/>
            </a:endParaRPr>
          </a:p>
        </p:txBody>
      </p:sp>
      <p:sp>
        <p:nvSpPr>
          <p:cNvPr id="6" name="矩形 5"/>
          <p:cNvSpPr/>
          <p:nvPr/>
        </p:nvSpPr>
        <p:spPr>
          <a:xfrm>
            <a:off x="107504" y="3429000"/>
            <a:ext cx="3660682" cy="400110"/>
          </a:xfrm>
          <a:prstGeom prst="rect">
            <a:avLst/>
          </a:prstGeom>
        </p:spPr>
        <p:txBody>
          <a:bodyPr wrap="non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Hybrid Task Cascade RoI Head</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107504" y="4077072"/>
            <a:ext cx="7056784" cy="1200329"/>
          </a:xfrm>
          <a:prstGeom prst="rect">
            <a:avLst/>
          </a:prstGeom>
          <a:noFill/>
        </p:spPr>
        <p:txBody>
          <a:bodyPr wrap="square" rtlCol="0">
            <a:spAutoFit/>
          </a:bodyPr>
          <a:lstStyle/>
          <a:p>
            <a:pPr indent="457200"/>
            <a:r>
              <a:rPr lang="en-US" altLang="zh-CN" dirty="0">
                <a:latin typeface="Times New Roman" panose="02020603050405020304" pitchFamily="18" charset="0"/>
                <a:cs typeface="Times New Roman" panose="02020603050405020304" pitchFamily="18" charset="0"/>
              </a:rPr>
              <a:t>Use a multi-stage detection head (Hybrid Task Cascade RoI Head) for object detection. This detection head gradually improves the accuracy of the detection box through multiple stages of iteration, and can also handle multiple tasks such as instance segmentation</a:t>
            </a:r>
            <a:endParaRPr lang="zh-CN" altLang="en-US"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164288" y="4640450"/>
            <a:ext cx="1700808" cy="170080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pic>
        <p:nvPicPr>
          <p:cNvPr id="5" name="图片 4"/>
          <p:cNvPicPr>
            <a:picLocks noChangeAspect="1"/>
          </p:cNvPicPr>
          <p:nvPr/>
        </p:nvPicPr>
        <p:blipFill>
          <a:blip r:embed="rId1"/>
          <a:stretch>
            <a:fillRect/>
          </a:stretch>
        </p:blipFill>
        <p:spPr>
          <a:xfrm>
            <a:off x="251520" y="1068633"/>
            <a:ext cx="2781312" cy="5373216"/>
          </a:xfrm>
          <a:prstGeom prst="rect">
            <a:avLst/>
          </a:prstGeom>
        </p:spPr>
      </p:pic>
      <p:sp>
        <p:nvSpPr>
          <p:cNvPr id="17" name="文本框 16"/>
          <p:cNvSpPr txBox="1"/>
          <p:nvPr/>
        </p:nvSpPr>
        <p:spPr>
          <a:xfrm>
            <a:off x="3131840" y="2136338"/>
            <a:ext cx="4968552" cy="2585323"/>
          </a:xfrm>
          <a:prstGeom prst="rect">
            <a:avLst/>
          </a:prstGeom>
          <a:noFill/>
        </p:spPr>
        <p:txBody>
          <a:bodyPr wrap="square" rtlCol="0">
            <a:spAutoFit/>
          </a:bodyPr>
          <a:lstStyle/>
          <a:p>
            <a:pPr algn="just"/>
            <a:r>
              <a:rPr lang="en-US" altLang="zh-CN" dirty="0"/>
              <a:t>       Load the trained R-CNN model and set it to inference mode. In this mode, the model is used to process new image data and output corresponding prediction results.</a:t>
            </a:r>
            <a:endParaRPr lang="en-US" altLang="zh-CN" dirty="0"/>
          </a:p>
          <a:p>
            <a:pPr algn="just"/>
            <a:endParaRPr lang="en-US" altLang="zh-CN" dirty="0"/>
          </a:p>
          <a:p>
            <a:pPr algn="just"/>
            <a:r>
              <a:rPr lang="en-US" altLang="zh-CN" dirty="0"/>
              <a:t>       Randomly select four images from the validation set, then for each image, load its ground truth, including the true classes, bounding boxes, and segmentation masks.</a:t>
            </a:r>
            <a:endParaRPr lang="zh-CN" altLang="en-US" dirty="0"/>
          </a:p>
        </p:txBody>
      </p:sp>
      <p:sp>
        <p:nvSpPr>
          <p:cNvPr id="3" name="文本框 2"/>
          <p:cNvSpPr txBox="1"/>
          <p:nvPr/>
        </p:nvSpPr>
        <p:spPr>
          <a:xfrm>
            <a:off x="645160" y="554990"/>
            <a:ext cx="3048000" cy="368300"/>
          </a:xfrm>
          <a:prstGeom prst="rect">
            <a:avLst/>
          </a:prstGeom>
          <a:noFill/>
        </p:spPr>
        <p:txBody>
          <a:bodyPr wrap="square" rtlCol="0">
            <a:spAutoFit/>
          </a:bodyPr>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403792" y="405299"/>
            <a:ext cx="4680520" cy="576064"/>
          </a:xfrm>
        </p:spPr>
        <p:txBody>
          <a:bodyPr>
            <a:normAutofit fontScale="90000"/>
          </a:bodyPr>
          <a:p>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r>
              <a:rPr lang="en-US" altLang="zh-CN">
                <a:sym typeface="+mn-ea"/>
              </a:rPr>
              <a:t>QueryInst</a:t>
            </a: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br>
              <a:rPr lang="en-US" altLang="zh-CN"/>
            </a:br>
            <a:endParaRPr lang="en-US" altLang="zh-CN"/>
          </a:p>
        </p:txBody>
      </p:sp>
      <p:sp>
        <p:nvSpPr>
          <p:cNvPr id="4" name="文本框 3"/>
          <p:cNvSpPr txBox="1"/>
          <p:nvPr/>
        </p:nvSpPr>
        <p:spPr>
          <a:xfrm>
            <a:off x="4866640" y="2060575"/>
            <a:ext cx="3954145" cy="2840990"/>
          </a:xfrm>
          <a:prstGeom prst="rect">
            <a:avLst/>
          </a:prstGeom>
          <a:noFill/>
        </p:spPr>
        <p:txBody>
          <a:bodyPr wrap="square" rtlCol="0">
            <a:noAutofit/>
          </a:bodyPr>
          <a:p>
            <a:pPr indent="0" algn="just" fontAlgn="auto"/>
            <a:r>
              <a:rPr lang="en-US" altLang="zh-CN"/>
              <a:t>      QueryInst is an end-to-end instance segmentation model, which unifies object detection and instance mask generation into a query-driven process. Use learnable queries to represent each instance, extract features and generate masks through a parallel attention mechanism.</a:t>
            </a:r>
            <a:endParaRPr lang="en-US" altLang="zh-CN"/>
          </a:p>
        </p:txBody>
      </p:sp>
      <p:pic>
        <p:nvPicPr>
          <p:cNvPr id="5" name="图片 4" descr="ChatGPT Image 2025年4月30日 16_27_00"/>
          <p:cNvPicPr>
            <a:picLocks noChangeAspect="1"/>
          </p:cNvPicPr>
          <p:nvPr/>
        </p:nvPicPr>
        <p:blipFill>
          <a:blip r:embed="rId1"/>
          <a:stretch>
            <a:fillRect/>
          </a:stretch>
        </p:blipFill>
        <p:spPr>
          <a:xfrm>
            <a:off x="539750" y="1557020"/>
            <a:ext cx="4093845" cy="4093845"/>
          </a:xfrm>
          <a:prstGeom prst="rect">
            <a:avLst/>
          </a:prstGeom>
        </p:spPr>
      </p:pic>
      <p:sp>
        <p:nvSpPr>
          <p:cNvPr id="10" name="文本框 9"/>
          <p:cNvSpPr txBox="1"/>
          <p:nvPr/>
        </p:nvSpPr>
        <p:spPr>
          <a:xfrm>
            <a:off x="2195830" y="836295"/>
            <a:ext cx="2620010" cy="321310"/>
          </a:xfrm>
          <a:prstGeom prst="rect">
            <a:avLst/>
          </a:prstGeom>
          <a:noFill/>
        </p:spPr>
        <p:txBody>
          <a:bodyPr wrap="square" rtlCol="0">
            <a:noAutofit/>
          </a:bodyPr>
          <a:p>
            <a:endParaRPr lang="zh-CN" altLang="en-US"/>
          </a:p>
        </p:txBody>
      </p:sp>
      <p:sp>
        <p:nvSpPr>
          <p:cNvPr id="11" name="标题 1"/>
          <p:cNvSpPr>
            <a:spLocks noGrp="1"/>
          </p:cNvSpPr>
          <p:nvPr/>
        </p:nvSpPr>
        <p:spPr>
          <a:xfrm>
            <a:off x="611505" y="405130"/>
            <a:ext cx="5366385" cy="57594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chemeClr val="bg1"/>
                </a:solidFill>
                <a:latin typeface="+mj-lt"/>
                <a:ea typeface="+mj-ea"/>
                <a:cs typeface="+mj-cs"/>
              </a:defRPr>
            </a:lvl1pPr>
          </a:lstStyle>
          <a:p>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835592" y="404664"/>
            <a:ext cx="4680520" cy="576064"/>
          </a:xfrm>
        </p:spPr>
        <p:txBody>
          <a:bodyPr>
            <a:normAutofit fontScale="90000"/>
          </a:bodyPr>
          <a:p>
            <a:r>
              <a:rPr lang="en-US" altLang="zh-CN"/>
              <a:t>R</a:t>
            </a:r>
            <a:r>
              <a:rPr lang="en-US" altLang="zh-CN"/>
              <a:t>esult</a:t>
            </a:r>
            <a:endParaRPr lang="en-US" altLang="zh-CN"/>
          </a:p>
        </p:txBody>
      </p:sp>
      <p:pic>
        <p:nvPicPr>
          <p:cNvPr id="7" name="图片 6" descr="010090"/>
          <p:cNvPicPr>
            <a:picLocks noChangeAspect="1"/>
          </p:cNvPicPr>
          <p:nvPr/>
        </p:nvPicPr>
        <p:blipFill>
          <a:blip r:embed="rId1"/>
          <a:stretch>
            <a:fillRect/>
          </a:stretch>
        </p:blipFill>
        <p:spPr>
          <a:xfrm>
            <a:off x="323850" y="1637030"/>
            <a:ext cx="1722120" cy="1718945"/>
          </a:xfrm>
          <a:prstGeom prst="rect">
            <a:avLst/>
          </a:prstGeom>
        </p:spPr>
      </p:pic>
      <p:sp>
        <p:nvSpPr>
          <p:cNvPr id="8" name="文本框 7"/>
          <p:cNvSpPr txBox="1"/>
          <p:nvPr/>
        </p:nvSpPr>
        <p:spPr>
          <a:xfrm>
            <a:off x="467360" y="1124585"/>
            <a:ext cx="1839595" cy="368300"/>
          </a:xfrm>
          <a:prstGeom prst="rect">
            <a:avLst/>
          </a:prstGeom>
          <a:noFill/>
        </p:spPr>
        <p:txBody>
          <a:bodyPr wrap="square" rtlCol="0">
            <a:spAutoFit/>
          </a:bodyPr>
          <a:p>
            <a:r>
              <a:rPr lang="en-US" altLang="zh-CN"/>
              <a:t>Example 1</a:t>
            </a:r>
            <a:endParaRPr lang="en-US" altLang="zh-CN"/>
          </a:p>
        </p:txBody>
      </p:sp>
      <p:sp>
        <p:nvSpPr>
          <p:cNvPr id="9" name="文本框 8"/>
          <p:cNvSpPr txBox="1"/>
          <p:nvPr/>
        </p:nvSpPr>
        <p:spPr>
          <a:xfrm>
            <a:off x="2627630" y="1701165"/>
            <a:ext cx="3048000" cy="645160"/>
          </a:xfrm>
          <a:prstGeom prst="rect">
            <a:avLst/>
          </a:prstGeom>
          <a:noFill/>
        </p:spPr>
        <p:txBody>
          <a:bodyPr wrap="square" rtlCol="0">
            <a:spAutoFit/>
          </a:bodyPr>
          <a:p>
            <a:r>
              <a:rPr lang="en-US" altLang="zh-CN"/>
              <a:t>Top1 </a:t>
            </a:r>
            <a:r>
              <a:rPr lang="en-US" altLang="zh-CN"/>
              <a:t>score</a:t>
            </a:r>
            <a:endParaRPr lang="en-US" altLang="zh-CN"/>
          </a:p>
          <a:p>
            <a:r>
              <a:rPr lang="en-US" altLang="zh-CN"/>
              <a:t>"score": 0.9048388263254726</a:t>
            </a:r>
            <a:endParaRPr lang="zh-CN" altLang="en-US"/>
          </a:p>
        </p:txBody>
      </p:sp>
      <p:sp>
        <p:nvSpPr>
          <p:cNvPr id="11" name="文本框 10"/>
          <p:cNvSpPr txBox="1"/>
          <p:nvPr/>
        </p:nvSpPr>
        <p:spPr>
          <a:xfrm>
            <a:off x="2644775" y="2637155"/>
            <a:ext cx="3335655" cy="645160"/>
          </a:xfrm>
          <a:prstGeom prst="rect">
            <a:avLst/>
          </a:prstGeom>
          <a:noFill/>
        </p:spPr>
        <p:txBody>
          <a:bodyPr wrap="square" rtlCol="0">
            <a:spAutoFit/>
          </a:bodyPr>
          <a:p>
            <a:r>
              <a:rPr lang="en-US" altLang="zh-CN"/>
              <a:t>Our </a:t>
            </a:r>
            <a:r>
              <a:rPr lang="en-US" altLang="zh-CN"/>
              <a:t>score</a:t>
            </a:r>
            <a:endParaRPr lang="en-US" altLang="zh-CN"/>
          </a:p>
          <a:p>
            <a:r>
              <a:rPr lang="en-US" altLang="zh-CN"/>
              <a:t>"score": 0.668030386461957</a:t>
            </a:r>
            <a:endParaRPr lang="en-US" altLang="zh-CN"/>
          </a:p>
        </p:txBody>
      </p:sp>
      <p:sp>
        <p:nvSpPr>
          <p:cNvPr id="12" name="文本框 11"/>
          <p:cNvSpPr txBox="1"/>
          <p:nvPr/>
        </p:nvSpPr>
        <p:spPr>
          <a:xfrm>
            <a:off x="467360" y="3861435"/>
            <a:ext cx="1651000" cy="368300"/>
          </a:xfrm>
          <a:prstGeom prst="rect">
            <a:avLst/>
          </a:prstGeom>
          <a:noFill/>
        </p:spPr>
        <p:txBody>
          <a:bodyPr wrap="square" rtlCol="0">
            <a:spAutoFit/>
          </a:bodyPr>
          <a:p>
            <a:r>
              <a:rPr lang="en-US" altLang="zh-CN"/>
              <a:t>Example 2</a:t>
            </a:r>
            <a:endParaRPr lang="en-US" altLang="zh-CN"/>
          </a:p>
        </p:txBody>
      </p:sp>
      <p:pic>
        <p:nvPicPr>
          <p:cNvPr id="13" name="图片 12" descr="014372"/>
          <p:cNvPicPr>
            <a:picLocks noChangeAspect="1"/>
          </p:cNvPicPr>
          <p:nvPr/>
        </p:nvPicPr>
        <p:blipFill>
          <a:blip r:embed="rId2"/>
          <a:stretch>
            <a:fillRect/>
          </a:stretch>
        </p:blipFill>
        <p:spPr>
          <a:xfrm>
            <a:off x="323850" y="4373245"/>
            <a:ext cx="1717675" cy="1717675"/>
          </a:xfrm>
          <a:prstGeom prst="rect">
            <a:avLst/>
          </a:prstGeom>
        </p:spPr>
      </p:pic>
      <p:sp>
        <p:nvSpPr>
          <p:cNvPr id="14" name="文本框 13"/>
          <p:cNvSpPr txBox="1"/>
          <p:nvPr/>
        </p:nvSpPr>
        <p:spPr>
          <a:xfrm>
            <a:off x="2627630" y="4373245"/>
            <a:ext cx="3048000" cy="645160"/>
          </a:xfrm>
          <a:prstGeom prst="rect">
            <a:avLst/>
          </a:prstGeom>
          <a:noFill/>
        </p:spPr>
        <p:txBody>
          <a:bodyPr wrap="square" rtlCol="0">
            <a:spAutoFit/>
          </a:bodyPr>
          <a:p>
            <a:r>
              <a:rPr lang="en-US" altLang="zh-CN"/>
              <a:t>Top1 </a:t>
            </a:r>
            <a:r>
              <a:rPr lang="en-US" altLang="zh-CN"/>
              <a:t>score</a:t>
            </a:r>
            <a:endParaRPr lang="en-US" altLang="zh-CN"/>
          </a:p>
          <a:p>
            <a:r>
              <a:rPr lang="en-US" altLang="zh-CN"/>
              <a:t>"score": 0.863557991437074</a:t>
            </a:r>
            <a:endParaRPr lang="en-US" altLang="zh-CN"/>
          </a:p>
        </p:txBody>
      </p:sp>
      <p:sp>
        <p:nvSpPr>
          <p:cNvPr id="15" name="文本框 14"/>
          <p:cNvSpPr txBox="1"/>
          <p:nvPr/>
        </p:nvSpPr>
        <p:spPr>
          <a:xfrm>
            <a:off x="2644775" y="5301615"/>
            <a:ext cx="3335655" cy="645160"/>
          </a:xfrm>
          <a:prstGeom prst="rect">
            <a:avLst/>
          </a:prstGeom>
          <a:noFill/>
        </p:spPr>
        <p:txBody>
          <a:bodyPr wrap="square" rtlCol="0">
            <a:spAutoFit/>
          </a:bodyPr>
          <a:p>
            <a:r>
              <a:rPr lang="en-US" altLang="zh-CN"/>
              <a:t>Our </a:t>
            </a:r>
            <a:r>
              <a:rPr lang="en-US" altLang="zh-CN"/>
              <a:t>score</a:t>
            </a:r>
            <a:endParaRPr lang="en-US" altLang="zh-CN"/>
          </a:p>
          <a:p>
            <a:r>
              <a:rPr lang="en-US" altLang="zh-CN"/>
              <a:t>"score": 0.7563078454801179</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457200" y="1772816"/>
            <a:ext cx="8229600" cy="3312368"/>
          </a:xfrm>
        </p:spPr>
        <p:txBody>
          <a:bodyPr/>
          <a:lstStyle/>
          <a:p>
            <a:r>
              <a:rPr lang="en-US" altLang="zh-CN" dirty="0">
                <a:latin typeface="Times New Roman" panose="02020603050405020304" pitchFamily="18" charset="0"/>
                <a:ea typeface="Noto Serif CJK SC" panose="02020400000000000000" pitchFamily="18" charset="-122"/>
                <a:cs typeface="Times New Roman" panose="02020603050405020304" pitchFamily="18" charset="0"/>
              </a:rPr>
              <a:t>Thanks for listening</a:t>
            </a:r>
            <a:endParaRPr lang="zh-CN" altLang="en-US" dirty="0">
              <a:latin typeface="Times New Roman" panose="02020603050405020304" pitchFamily="18" charset="0"/>
              <a:ea typeface="Noto Serif CJK SC" panose="02020400000000000000" pitchFamily="18"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787c1b-0e97-4828-8c0d-b8f3a6310242" xsi:nil="true"/>
    <lcf76f155ced4ddcb4097134ff3c332f xmlns="8e53e424-babb-45a4-abae-e13a7137d97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CB9B37A45E138F4FAE483E00D711CF04" ma:contentTypeVersion="13" ma:contentTypeDescription="Создание документа." ma:contentTypeScope="" ma:versionID="6ddabc70f3a0832b21e7a1b95340d4ca">
  <xsd:schema xmlns:xsd="http://www.w3.org/2001/XMLSchema" xmlns:xs="http://www.w3.org/2001/XMLSchema" xmlns:p="http://schemas.microsoft.com/office/2006/metadata/properties" xmlns:ns2="8e53e424-babb-45a4-abae-e13a7137d97f" xmlns:ns3="c7787c1b-0e97-4828-8c0d-b8f3a6310242" targetNamespace="http://schemas.microsoft.com/office/2006/metadata/properties" ma:root="true" ma:fieldsID="dae571a1a1f4f79d40c414fc36e5e2cb" ns2:_="" ns3:_="">
    <xsd:import namespace="8e53e424-babb-45a4-abae-e13a7137d97f"/>
    <xsd:import namespace="c7787c1b-0e97-4828-8c0d-b8f3a631024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53e424-babb-45a4-abae-e13a7137d9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Теги изображений" ma:readOnly="false" ma:fieldId="{5cf76f15-5ced-4ddc-b409-7134ff3c332f}" ma:taxonomyMulti="true" ma:sspId="3dac30f7-4b6a-4d0c-a073-8dcd7cc3cb6e"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787c1b-0e97-4828-8c0d-b8f3a6310242" elementFormDefault="qualified">
    <xsd:import namespace="http://schemas.microsoft.com/office/2006/documentManagement/types"/>
    <xsd:import namespace="http://schemas.microsoft.com/office/infopath/2007/PartnerControls"/>
    <xsd:element name="SharedWithUsers" ma:index="12"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Совместно с подробностями" ma:internalName="SharedWithDetails" ma:readOnly="true">
      <xsd:simpleType>
        <xsd:restriction base="dms:Note">
          <xsd:maxLength value="255"/>
        </xsd:restriction>
      </xsd:simpleType>
    </xsd:element>
    <xsd:element name="TaxCatchAll" ma:index="16" nillable="true" ma:displayName="Taxonomy Catch All Column" ma:hidden="true" ma:list="{c7c0d795-c7a5-418a-a8af-fdf0811019fb}" ma:internalName="TaxCatchAll" ma:showField="CatchAllData" ma:web="c7787c1b-0e97-4828-8c0d-b8f3a63102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77AFDB-3732-4B0C-A78F-5E03E9614370}">
  <ds:schemaRefs/>
</ds:datastoreItem>
</file>

<file path=customXml/itemProps2.xml><?xml version="1.0" encoding="utf-8"?>
<ds:datastoreItem xmlns:ds="http://schemas.openxmlformats.org/officeDocument/2006/customXml" ds:itemID="{A9028B94-29BE-498C-97C9-0E22C595A7F5}">
  <ds:schemaRefs/>
</ds:datastoreItem>
</file>

<file path=customXml/itemProps3.xml><?xml version="1.0" encoding="utf-8"?>
<ds:datastoreItem xmlns:ds="http://schemas.openxmlformats.org/officeDocument/2006/customXml" ds:itemID="{5E7631D3-3390-4DE9-B85D-726EA1190C64}">
  <ds:schemaRefs/>
</ds:datastoreItem>
</file>

<file path=docProps/app.xml><?xml version="1.0" encoding="utf-8"?>
<Properties xmlns="http://schemas.openxmlformats.org/officeDocument/2006/extended-properties" xmlns:vt="http://schemas.openxmlformats.org/officeDocument/2006/docPropsVTypes">
  <TotalTime>0</TotalTime>
  <Words>8668</Words>
  <Application>WPS 演示</Application>
  <PresentationFormat>全屏显示(4:3)</PresentationFormat>
  <Paragraphs>166</Paragraphs>
  <Slides>22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vt:i4>
      </vt:variant>
    </vt:vector>
  </HeadingPairs>
  <TitlesOfParts>
    <vt:vector size="34" baseType="lpstr">
      <vt:lpstr>Arial</vt:lpstr>
      <vt:lpstr>宋体</vt:lpstr>
      <vt:lpstr>Wingdings</vt:lpstr>
      <vt:lpstr>Times New Roman</vt:lpstr>
      <vt:lpstr>Noto Serif CJK SC</vt:lpstr>
      <vt:lpstr>Wingdings</vt:lpstr>
      <vt:lpstr>微软雅黑</vt:lpstr>
      <vt:lpstr>Arial Unicode MS</vt:lpstr>
      <vt:lpstr>Calibri</vt:lpstr>
      <vt:lpstr>等线</vt:lpstr>
      <vt:lpstr>Calibri</vt:lpstr>
      <vt:lpstr>Тема Office</vt:lpstr>
      <vt:lpstr>Food recognition and segmentation</vt:lpstr>
      <vt:lpstr>Table of Contents</vt:lpstr>
      <vt:lpstr>Competition description</vt:lpstr>
      <vt:lpstr>Description of the data set</vt:lpstr>
      <vt:lpstr>Description of the solution</vt:lpstr>
      <vt:lpstr>Competition description</vt:lpstr>
      <vt:lpstr>Description of the data set</vt:lpstr>
      <vt:lpstr>Description of the solution</vt:lpstr>
      <vt:lpstr>Summary</vt:lpstr>
      <vt:lpstr>Description of competition 1</vt:lpstr>
      <vt:lpstr>Description of competition 1’s model</vt:lpstr>
      <vt:lpstr>Description of competition 1’s model</vt:lpstr>
      <vt:lpstr>Description of competition 1’s model</vt:lpstr>
      <vt:lpstr>Description of competition 2</vt:lpstr>
      <vt:lpstr>Description of competition 2’s model</vt:lpstr>
      <vt:lpstr>Description of competition 2’s model</vt:lpstr>
      <vt:lpstr>Description of competition 2’s model</vt:lpstr>
      <vt:lpstr>Description of competition 2’s model</vt:lpstr>
      <vt:lpstr>PowerPoint 演示文稿</vt:lpstr>
      <vt:lpstr>                                                 QueryInst                                                 </vt:lpstr>
      <vt:lpstr>Result</vt:lpstr>
      <vt:lpstr>Thanks for listening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圣彼得堡国立大学</dc:title>
  <dc:creator>Yin Li</dc:creator>
  <cp:lastModifiedBy>亓</cp:lastModifiedBy>
  <cp:revision>79</cp:revision>
  <dcterms:created xsi:type="dcterms:W3CDTF">2020-09-11T12:30:00Z</dcterms:created>
  <dcterms:modified xsi:type="dcterms:W3CDTF">2025-04-30T15:40:06Z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0x010100CB9B37A45E138F4FAE483E00D711CF04</vt:lpwstr>
  </property>
  <property fmtid="{D5CDD505-2E9C-101B-9397-08002B2CF9AE}" pid="3" name="ICV">
    <vt:lpwstr>4BD899CCDA5148AB8CA001E865C9C320_12</vt:lpwstr>
  </property>
  <property fmtid="{D5CDD505-2E9C-101B-9397-08002B2CF9AE}" pid="4" name="KSOProductBuildVer">
    <vt:lpwstr>2052-12.1.0.20305</vt:lpwstr>
  </property>
</Properties>
</file>